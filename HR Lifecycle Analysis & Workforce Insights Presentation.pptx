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ntonio Ultra-Bold" charset="1" panose="02000803000000000000"/>
      <p:regular r:id="rId25"/>
    </p:embeddedFont>
    <p:embeddedFont>
      <p:font typeface="Arimo" charset="1" panose="020B0604020202020204"/>
      <p:regular r:id="rId26"/>
    </p:embeddedFont>
    <p:embeddedFont>
      <p:font typeface="Inter Semi-Bold" charset="1" panose="02000503000000020004"/>
      <p:regular r:id="rId27"/>
    </p:embeddedFont>
    <p:embeddedFont>
      <p:font typeface="Inter Bold" charset="1" panose="02000503000000020004"/>
      <p:regular r:id="rId28"/>
    </p:embeddedFont>
    <p:embeddedFont>
      <p:font typeface="Inter" charset="1" panose="02000503000000020004"/>
      <p:regular r:id="rId29"/>
    </p:embeddedFont>
    <p:embeddedFont>
      <p:font typeface="Arimo Bold" charset="1" panose="020B0704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9624737" y="4053052"/>
            <a:ext cx="9486737" cy="1315500"/>
            <a:chOff x="0" y="0"/>
            <a:chExt cx="1462891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961" y="0"/>
              <a:ext cx="1438969" cy="202855"/>
            </a:xfrm>
            <a:custGeom>
              <a:avLst/>
              <a:gdLst/>
              <a:ahLst/>
              <a:cxnLst/>
              <a:rect r="r" b="b" t="t" l="l"/>
              <a:pathLst>
                <a:path h="202855" w="1438969">
                  <a:moveTo>
                    <a:pt x="211641" y="0"/>
                  </a:moveTo>
                  <a:lnTo>
                    <a:pt x="1227328" y="0"/>
                  </a:lnTo>
                  <a:cubicBezTo>
                    <a:pt x="1240392" y="0"/>
                    <a:pt x="1252923" y="5184"/>
                    <a:pt x="1262168" y="14414"/>
                  </a:cubicBezTo>
                  <a:lnTo>
                    <a:pt x="1436491" y="188441"/>
                  </a:lnTo>
                  <a:cubicBezTo>
                    <a:pt x="1438908" y="190854"/>
                    <a:pt x="1439633" y="194486"/>
                    <a:pt x="1438327" y="197641"/>
                  </a:cubicBezTo>
                  <a:cubicBezTo>
                    <a:pt x="1437022" y="200797"/>
                    <a:pt x="1433943" y="202855"/>
                    <a:pt x="1430528" y="202855"/>
                  </a:cubicBezTo>
                  <a:lnTo>
                    <a:pt x="8441" y="202855"/>
                  </a:lnTo>
                  <a:cubicBezTo>
                    <a:pt x="5026" y="202855"/>
                    <a:pt x="1947" y="200797"/>
                    <a:pt x="641" y="197641"/>
                  </a:cubicBezTo>
                  <a:cubicBezTo>
                    <a:pt x="-664" y="194486"/>
                    <a:pt x="61" y="190854"/>
                    <a:pt x="2478" y="188441"/>
                  </a:cubicBezTo>
                  <a:lnTo>
                    <a:pt x="176800" y="14414"/>
                  </a:lnTo>
                  <a:cubicBezTo>
                    <a:pt x="186046" y="5184"/>
                    <a:pt x="198577" y="0"/>
                    <a:pt x="2116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20889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100000">
            <a:off x="10472226" y="2579357"/>
            <a:ext cx="5318500" cy="1315500"/>
            <a:chOff x="0" y="0"/>
            <a:chExt cx="820133" cy="202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335" y="0"/>
              <a:ext cx="777462" cy="202855"/>
            </a:xfrm>
            <a:custGeom>
              <a:avLst/>
              <a:gdLst/>
              <a:ahLst/>
              <a:cxnLst/>
              <a:rect r="r" b="b" t="t" l="l"/>
              <a:pathLst>
                <a:path h="202855" w="777462">
                  <a:moveTo>
                    <a:pt x="218256" y="0"/>
                  </a:moveTo>
                  <a:lnTo>
                    <a:pt x="559206" y="0"/>
                  </a:lnTo>
                  <a:cubicBezTo>
                    <a:pt x="582510" y="0"/>
                    <a:pt x="604860" y="9247"/>
                    <a:pt x="621352" y="25711"/>
                  </a:cubicBezTo>
                  <a:lnTo>
                    <a:pt x="773043" y="177144"/>
                  </a:lnTo>
                  <a:cubicBezTo>
                    <a:pt x="777355" y="181448"/>
                    <a:pt x="778647" y="187926"/>
                    <a:pt x="776318" y="193555"/>
                  </a:cubicBezTo>
                  <a:cubicBezTo>
                    <a:pt x="773990" y="199184"/>
                    <a:pt x="768498" y="202855"/>
                    <a:pt x="762406" y="202855"/>
                  </a:cubicBezTo>
                  <a:lnTo>
                    <a:pt x="15056" y="202855"/>
                  </a:lnTo>
                  <a:cubicBezTo>
                    <a:pt x="8965" y="202855"/>
                    <a:pt x="3473" y="199184"/>
                    <a:pt x="1144" y="193555"/>
                  </a:cubicBezTo>
                  <a:cubicBezTo>
                    <a:pt x="-1185" y="187926"/>
                    <a:pt x="108" y="181448"/>
                    <a:pt x="4419" y="177144"/>
                  </a:cubicBezTo>
                  <a:lnTo>
                    <a:pt x="156111" y="25711"/>
                  </a:lnTo>
                  <a:cubicBezTo>
                    <a:pt x="172602" y="9247"/>
                    <a:pt x="194953" y="0"/>
                    <a:pt x="2182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566133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15750" y="2814320"/>
            <a:ext cx="5543550" cy="6443980"/>
            <a:chOff x="0" y="0"/>
            <a:chExt cx="1494688" cy="1737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4692" cy="1737464"/>
            </a:xfrm>
            <a:custGeom>
              <a:avLst/>
              <a:gdLst/>
              <a:ahLst/>
              <a:cxnLst/>
              <a:rect r="r" b="b" t="t" l="l"/>
              <a:pathLst>
                <a:path h="1737464" w="1494692">
                  <a:moveTo>
                    <a:pt x="0" y="110688"/>
                  </a:moveTo>
                  <a:lnTo>
                    <a:pt x="0" y="1481092"/>
                  </a:lnTo>
                  <a:cubicBezTo>
                    <a:pt x="2" y="1507389"/>
                    <a:pt x="9367" y="1532826"/>
                    <a:pt x="26416" y="1552847"/>
                  </a:cubicBezTo>
                  <a:lnTo>
                    <a:pt x="150468" y="1698536"/>
                  </a:lnTo>
                  <a:cubicBezTo>
                    <a:pt x="171499" y="1723235"/>
                    <a:pt x="202305" y="1737465"/>
                    <a:pt x="234744" y="1737464"/>
                  </a:cubicBezTo>
                  <a:lnTo>
                    <a:pt x="1259948" y="1737464"/>
                  </a:lnTo>
                  <a:cubicBezTo>
                    <a:pt x="1292387" y="1737465"/>
                    <a:pt x="1323194" y="1723235"/>
                    <a:pt x="1344224" y="1698536"/>
                  </a:cubicBezTo>
                  <a:lnTo>
                    <a:pt x="1468276" y="1552847"/>
                  </a:lnTo>
                  <a:cubicBezTo>
                    <a:pt x="1485325" y="1532826"/>
                    <a:pt x="1494690" y="1507389"/>
                    <a:pt x="1494692" y="1481092"/>
                  </a:cubicBezTo>
                  <a:lnTo>
                    <a:pt x="1494692" y="110688"/>
                  </a:lnTo>
                  <a:cubicBezTo>
                    <a:pt x="1494692" y="81331"/>
                    <a:pt x="1483030" y="53177"/>
                    <a:pt x="1462271" y="32418"/>
                  </a:cubicBezTo>
                  <a:cubicBezTo>
                    <a:pt x="1441512" y="11660"/>
                    <a:pt x="1413357" y="-1"/>
                    <a:pt x="1384000" y="0"/>
                  </a:cubicBezTo>
                  <a:lnTo>
                    <a:pt x="110688" y="0"/>
                  </a:lnTo>
                  <a:cubicBezTo>
                    <a:pt x="49557" y="0"/>
                    <a:pt x="0" y="49557"/>
                    <a:pt x="0" y="110688"/>
                  </a:cubicBezTo>
                  <a:close/>
                </a:path>
              </a:pathLst>
            </a:custGeom>
            <a:blipFill>
              <a:blip r:embed="rId2"/>
              <a:stretch>
                <a:fillRect l="0" t="-3185" r="0" b="-318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0687050" y="9129712"/>
            <a:ext cx="165628" cy="128588"/>
          </a:xfrm>
          <a:custGeom>
            <a:avLst/>
            <a:gdLst/>
            <a:ahLst/>
            <a:cxnLst/>
            <a:rect r="r" b="b" t="t" l="l"/>
            <a:pathLst>
              <a:path h="128588" w="165628">
                <a:moveTo>
                  <a:pt x="0" y="0"/>
                </a:moveTo>
                <a:lnTo>
                  <a:pt x="165628" y="0"/>
                </a:lnTo>
                <a:lnTo>
                  <a:pt x="165628" y="128588"/>
                </a:lnTo>
                <a:lnTo>
                  <a:pt x="0" y="12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flipV="true">
            <a:off x="1028700" y="9586912"/>
            <a:ext cx="8115300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28700" y="5404481"/>
          <a:ext cx="8936192" cy="3725231"/>
        </p:xfrm>
        <a:graphic>
          <a:graphicData uri="http://schemas.openxmlformats.org/drawingml/2006/table">
            <a:tbl>
              <a:tblPr/>
              <a:tblGrid>
                <a:gridCol w="1464196"/>
                <a:gridCol w="6007800"/>
                <a:gridCol w="1464196"/>
              </a:tblGrid>
              <a:tr h="931308">
                <a:tc rowSpan="4" gridSpan="3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08">
                <a:tc vMerge="true" gridSpan="3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08">
                <a:tc vMerge="true" gridSpan="3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1308">
                <a:tc vMerge="true" gridSpan="3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1028700" y="1701779"/>
            <a:ext cx="10453253" cy="3312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50"/>
              </a:lnSpc>
            </a:pPr>
            <a:r>
              <a:rPr lang="en-US" b="true" sz="6950" spc="-486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HR ANALYTICS PROJECT</a:t>
            </a:r>
          </a:p>
          <a:p>
            <a:pPr algn="l" marL="0" indent="0" lvl="0">
              <a:lnSpc>
                <a:spcPts val="6350"/>
              </a:lnSpc>
            </a:pPr>
            <a:r>
              <a:rPr lang="en-US" b="true" sz="6350" spc="-444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DATA-DRIVEN WORKFORCE MANAGEMENT AND EMPLOYEE INSIGHTS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715000"/>
            <a:ext cx="8936192" cy="683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150"/>
              </a:lnSpc>
              <a:spcBef>
                <a:spcPct val="0"/>
              </a:spcBef>
            </a:pPr>
            <a:r>
              <a:rPr lang="en-US" b="true" sz="5150" spc="-360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                         </a:t>
            </a:r>
            <a:r>
              <a:rPr lang="en-US" b="true" sz="5150" spc="-360" strike="noStrike" u="none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T EAM 2            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905782"/>
            <a:ext cx="8936192" cy="50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BASSEM                              MOSTAFA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300" y="7778124"/>
            <a:ext cx="8936192" cy="500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        SARA                                NARDEN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6433287" y="4882556"/>
            <a:ext cx="11832928" cy="1315500"/>
            <a:chOff x="0" y="0"/>
            <a:chExt cx="182468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89" y="0"/>
              <a:ext cx="1805503" cy="202855"/>
            </a:xfrm>
            <a:custGeom>
              <a:avLst/>
              <a:gdLst/>
              <a:ahLst/>
              <a:cxnLst/>
              <a:rect r="r" b="b" t="t" l="l"/>
              <a:pathLst>
                <a:path h="202855" w="1805503">
                  <a:moveTo>
                    <a:pt x="209968" y="0"/>
                  </a:moveTo>
                  <a:lnTo>
                    <a:pt x="1595536" y="0"/>
                  </a:lnTo>
                  <a:cubicBezTo>
                    <a:pt x="1606011" y="0"/>
                    <a:pt x="1616057" y="4156"/>
                    <a:pt x="1623469" y="11556"/>
                  </a:cubicBezTo>
                  <a:lnTo>
                    <a:pt x="1803517" y="191299"/>
                  </a:lnTo>
                  <a:cubicBezTo>
                    <a:pt x="1805455" y="193233"/>
                    <a:pt x="1806036" y="196145"/>
                    <a:pt x="1804990" y="198675"/>
                  </a:cubicBezTo>
                  <a:cubicBezTo>
                    <a:pt x="1803943" y="201205"/>
                    <a:pt x="1801474" y="202855"/>
                    <a:pt x="1798736" y="202855"/>
                  </a:cubicBezTo>
                  <a:lnTo>
                    <a:pt x="6768" y="202855"/>
                  </a:lnTo>
                  <a:cubicBezTo>
                    <a:pt x="4030" y="202855"/>
                    <a:pt x="1561" y="201205"/>
                    <a:pt x="515" y="198675"/>
                  </a:cubicBezTo>
                  <a:cubicBezTo>
                    <a:pt x="-532" y="196145"/>
                    <a:pt x="49" y="193233"/>
                    <a:pt x="1987" y="191299"/>
                  </a:cubicBezTo>
                  <a:lnTo>
                    <a:pt x="182035" y="11556"/>
                  </a:lnTo>
                  <a:cubicBezTo>
                    <a:pt x="189448" y="4156"/>
                    <a:pt x="199494" y="0"/>
                    <a:pt x="209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57068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100000">
            <a:off x="10084091" y="2265709"/>
            <a:ext cx="4431367" cy="1315500"/>
            <a:chOff x="0" y="0"/>
            <a:chExt cx="683334" cy="202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606" y="0"/>
              <a:ext cx="632121" cy="202855"/>
            </a:xfrm>
            <a:custGeom>
              <a:avLst/>
              <a:gdLst/>
              <a:ahLst/>
              <a:cxnLst/>
              <a:rect r="r" b="b" t="t" l="l"/>
              <a:pathLst>
                <a:path h="202855" w="632121">
                  <a:moveTo>
                    <a:pt x="221271" y="0"/>
                  </a:moveTo>
                  <a:lnTo>
                    <a:pt x="410851" y="0"/>
                  </a:lnTo>
                  <a:cubicBezTo>
                    <a:pt x="438819" y="0"/>
                    <a:pt x="465645" y="11098"/>
                    <a:pt x="485438" y="30858"/>
                  </a:cubicBezTo>
                  <a:lnTo>
                    <a:pt x="626817" y="171997"/>
                  </a:lnTo>
                  <a:cubicBezTo>
                    <a:pt x="631992" y="177163"/>
                    <a:pt x="633543" y="184937"/>
                    <a:pt x="630748" y="191693"/>
                  </a:cubicBezTo>
                  <a:cubicBezTo>
                    <a:pt x="627953" y="198449"/>
                    <a:pt x="621362" y="202855"/>
                    <a:pt x="614051" y="202855"/>
                  </a:cubicBezTo>
                  <a:lnTo>
                    <a:pt x="18071" y="202855"/>
                  </a:lnTo>
                  <a:cubicBezTo>
                    <a:pt x="10759" y="202855"/>
                    <a:pt x="4169" y="198449"/>
                    <a:pt x="1374" y="191693"/>
                  </a:cubicBezTo>
                  <a:cubicBezTo>
                    <a:pt x="-1422" y="184937"/>
                    <a:pt x="130" y="177163"/>
                    <a:pt x="5304" y="171997"/>
                  </a:cubicBezTo>
                  <a:lnTo>
                    <a:pt x="146684" y="30858"/>
                  </a:lnTo>
                  <a:cubicBezTo>
                    <a:pt x="166477" y="11098"/>
                    <a:pt x="193302" y="0"/>
                    <a:pt x="2212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429334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72700" y="2700970"/>
            <a:ext cx="7086600" cy="6557330"/>
            <a:chOff x="0" y="0"/>
            <a:chExt cx="1685347" cy="155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5346" cy="1559475"/>
            </a:xfrm>
            <a:custGeom>
              <a:avLst/>
              <a:gdLst/>
              <a:ahLst/>
              <a:cxnLst/>
              <a:rect r="r" b="b" t="t" l="l"/>
              <a:pathLst>
                <a:path h="1559475" w="168534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436774"/>
                  </a:lnTo>
                  <a:cubicBezTo>
                    <a:pt x="1" y="1504540"/>
                    <a:pt x="54936" y="1559475"/>
                    <a:pt x="122702" y="1559475"/>
                  </a:cubicBezTo>
                  <a:lnTo>
                    <a:pt x="1562644" y="1559475"/>
                  </a:lnTo>
                  <a:cubicBezTo>
                    <a:pt x="1630410" y="1559475"/>
                    <a:pt x="1685345" y="1504540"/>
                    <a:pt x="1685346" y="1436774"/>
                  </a:cubicBezTo>
                  <a:lnTo>
                    <a:pt x="1685346" y="122701"/>
                  </a:lnTo>
                  <a:cubicBezTo>
                    <a:pt x="1685345" y="54935"/>
                    <a:pt x="1630410" y="1"/>
                    <a:pt x="1562645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2"/>
              <a:stretch>
                <a:fillRect l="0" t="-4035" r="0" b="-4035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028700" y="3702427"/>
            <a:ext cx="8115300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963346"/>
            <a:ext cx="9667093" cy="2113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2"/>
              </a:lnSpc>
            </a:pPr>
            <a:r>
              <a:rPr lang="en-US" b="true" sz="8112" spc="-56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INTRODUCTION TO HR ANALYTICS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3270502"/>
            <a:ext cx="4671582" cy="36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8"/>
              </a:lnSpc>
            </a:pPr>
            <a:r>
              <a:rPr lang="en-US" b="true" sz="2798" spc="-69">
                <a:solidFill>
                  <a:srgbClr val="30303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Why HR Analytics Matters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280061"/>
            <a:ext cx="6228968" cy="3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6"/>
              </a:lnSpc>
            </a:pPr>
            <a:r>
              <a:rPr lang="en-US" b="true" sz="2104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DRIVING STRATEGIC WORKFORCE DECISIONS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75270"/>
            <a:ext cx="8115300" cy="193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6"/>
              </a:lnSpc>
            </a:pPr>
            <a:r>
              <a:rPr lang="en-US" sz="2204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HR Analytics empowers organizations to transform raw employee data into actionable insights. By understanding workforce trends, companies can optimize hiring processes, enhance employee performance, and proactively manage attrition to build a more productive and engaged workforce.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7062420"/>
            <a:ext cx="6215267" cy="1803915"/>
            <a:chOff x="0" y="0"/>
            <a:chExt cx="8287022" cy="240522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38100"/>
              <a:ext cx="4757413" cy="462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6"/>
                </a:lnSpc>
              </a:pPr>
              <a:r>
                <a:rPr lang="en-US" b="true" sz="2104">
                  <a:solidFill>
                    <a:srgbClr val="30303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 BENEFITS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794902" y="-38100"/>
              <a:ext cx="5492120" cy="2443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6"/>
                </a:lnSpc>
              </a:pPr>
              <a:r>
                <a:rPr lang="en-US" sz="210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• Improved Recruitment</a:t>
              </a:r>
            </a:p>
            <a:p>
              <a:pPr algn="l" marL="0" indent="0" lvl="0">
                <a:lnSpc>
                  <a:spcPts val="2946"/>
                </a:lnSpc>
              </a:pPr>
              <a:r>
                <a:rPr lang="en-US" sz="210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• Enhanced Performance</a:t>
              </a:r>
            </a:p>
            <a:p>
              <a:pPr algn="l" marL="0" indent="0" lvl="0">
                <a:lnSpc>
                  <a:spcPts val="2946"/>
                </a:lnSpc>
              </a:pPr>
              <a:r>
                <a:rPr lang="en-US" sz="210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• Reduced Attrition</a:t>
              </a:r>
            </a:p>
            <a:p>
              <a:pPr algn="l" marL="0" indent="0" lvl="0">
                <a:lnSpc>
                  <a:spcPts val="2946"/>
                </a:lnSpc>
              </a:pPr>
              <a:r>
                <a:rPr lang="en-US" sz="210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• Increased Productivity</a:t>
              </a:r>
            </a:p>
            <a:p>
              <a:pPr algn="l" marL="0" indent="0" lvl="0">
                <a:lnSpc>
                  <a:spcPts val="2946"/>
                </a:lnSpc>
              </a:pPr>
              <a:r>
                <a:rPr lang="en-US" sz="2104">
                  <a:solidFill>
                    <a:srgbClr val="303030"/>
                  </a:solidFill>
                  <a:latin typeface="Inter"/>
                  <a:ea typeface="Inter"/>
                  <a:cs typeface="Inter"/>
                  <a:sym typeface="Inter"/>
                </a:rPr>
                <a:t>• Better Retention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4447395" y="3854503"/>
            <a:ext cx="8902070" cy="1315500"/>
            <a:chOff x="0" y="0"/>
            <a:chExt cx="1372733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47" y="0"/>
              <a:ext cx="1347240" cy="202855"/>
            </a:xfrm>
            <a:custGeom>
              <a:avLst/>
              <a:gdLst/>
              <a:ahLst/>
              <a:cxnLst/>
              <a:rect r="r" b="b" t="t" l="l"/>
              <a:pathLst>
                <a:path h="202855" w="1347240">
                  <a:moveTo>
                    <a:pt x="212195" y="0"/>
                  </a:moveTo>
                  <a:lnTo>
                    <a:pt x="1135044" y="0"/>
                  </a:lnTo>
                  <a:cubicBezTo>
                    <a:pt x="1148966" y="0"/>
                    <a:pt x="1162320" y="5525"/>
                    <a:pt x="1172173" y="15361"/>
                  </a:cubicBezTo>
                  <a:lnTo>
                    <a:pt x="1344599" y="187494"/>
                  </a:lnTo>
                  <a:cubicBezTo>
                    <a:pt x="1347175" y="190066"/>
                    <a:pt x="1347947" y="193936"/>
                    <a:pt x="1346556" y="197299"/>
                  </a:cubicBezTo>
                  <a:cubicBezTo>
                    <a:pt x="1345164" y="200662"/>
                    <a:pt x="1341883" y="202855"/>
                    <a:pt x="1338244" y="202855"/>
                  </a:cubicBezTo>
                  <a:lnTo>
                    <a:pt x="8995" y="202855"/>
                  </a:lnTo>
                  <a:cubicBezTo>
                    <a:pt x="5355" y="202855"/>
                    <a:pt x="2075" y="200662"/>
                    <a:pt x="683" y="197299"/>
                  </a:cubicBezTo>
                  <a:cubicBezTo>
                    <a:pt x="-708" y="193936"/>
                    <a:pt x="64" y="190066"/>
                    <a:pt x="2640" y="187494"/>
                  </a:cubicBezTo>
                  <a:lnTo>
                    <a:pt x="175066" y="15361"/>
                  </a:lnTo>
                  <a:cubicBezTo>
                    <a:pt x="184919" y="5525"/>
                    <a:pt x="198273" y="0"/>
                    <a:pt x="212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118733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78794" y="1028700"/>
            <a:ext cx="6437553" cy="5162026"/>
            <a:chOff x="0" y="0"/>
            <a:chExt cx="2835044" cy="2273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5044" cy="2273313"/>
            </a:xfrm>
            <a:custGeom>
              <a:avLst/>
              <a:gdLst/>
              <a:ahLst/>
              <a:cxnLst/>
              <a:rect r="r" b="b" t="t" l="l"/>
              <a:pathLst>
                <a:path h="2273313" w="2835044">
                  <a:moveTo>
                    <a:pt x="2420781" y="38122"/>
                  </a:moveTo>
                  <a:cubicBezTo>
                    <a:pt x="2399082" y="13865"/>
                    <a:pt x="2368076" y="0"/>
                    <a:pt x="2026420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62539"/>
                  </a:lnTo>
                  <a:cubicBezTo>
                    <a:pt x="0" y="1690678"/>
                    <a:pt x="10372" y="1717829"/>
                    <a:pt x="29133" y="1738801"/>
                  </a:cubicBezTo>
                  <a:lnTo>
                    <a:pt x="248999" y="1984585"/>
                  </a:lnTo>
                  <a:cubicBezTo>
                    <a:pt x="270698" y="2008842"/>
                    <a:pt x="301704" y="2022706"/>
                    <a:pt x="334250" y="2022706"/>
                  </a:cubicBezTo>
                  <a:lnTo>
                    <a:pt x="587615" y="2022706"/>
                  </a:lnTo>
                  <a:cubicBezTo>
                    <a:pt x="620162" y="2022706"/>
                    <a:pt x="651168" y="2036571"/>
                    <a:pt x="672868" y="2060829"/>
                  </a:cubicBezTo>
                  <a:lnTo>
                    <a:pt x="828844" y="2235191"/>
                  </a:lnTo>
                  <a:cubicBezTo>
                    <a:pt x="850543" y="2259448"/>
                    <a:pt x="881549" y="2273313"/>
                    <a:pt x="914095" y="2273313"/>
                  </a:cubicBezTo>
                  <a:lnTo>
                    <a:pt x="2720659" y="2273313"/>
                  </a:lnTo>
                  <a:cubicBezTo>
                    <a:pt x="2750995" y="2273313"/>
                    <a:pt x="2780090" y="2261262"/>
                    <a:pt x="2801541" y="2239811"/>
                  </a:cubicBezTo>
                  <a:cubicBezTo>
                    <a:pt x="2822992" y="2218360"/>
                    <a:pt x="2835044" y="2189266"/>
                    <a:pt x="2835044" y="2158929"/>
                  </a:cubicBezTo>
                  <a:lnTo>
                    <a:pt x="2835044" y="2022706"/>
                  </a:lnTo>
                  <a:lnTo>
                    <a:pt x="2835044" y="567445"/>
                  </a:lnTo>
                  <a:cubicBezTo>
                    <a:pt x="2835044" y="524794"/>
                    <a:pt x="2819322" y="483639"/>
                    <a:pt x="2790886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29" r="0" b="-42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44821" y="4347790"/>
            <a:ext cx="3831665" cy="1842936"/>
            <a:chOff x="0" y="0"/>
            <a:chExt cx="3027488" cy="1456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27488" cy="1456147"/>
            </a:xfrm>
            <a:custGeom>
              <a:avLst/>
              <a:gdLst/>
              <a:ahLst/>
              <a:cxnLst/>
              <a:rect r="r" b="b" t="t" l="l"/>
              <a:pathLst>
                <a:path h="1456147" w="3027488">
                  <a:moveTo>
                    <a:pt x="24246" y="0"/>
                  </a:moveTo>
                  <a:lnTo>
                    <a:pt x="3003242" y="0"/>
                  </a:lnTo>
                  <a:cubicBezTo>
                    <a:pt x="3009672" y="0"/>
                    <a:pt x="3015840" y="2554"/>
                    <a:pt x="3020387" y="7102"/>
                  </a:cubicBezTo>
                  <a:cubicBezTo>
                    <a:pt x="3024934" y="11649"/>
                    <a:pt x="3027488" y="17816"/>
                    <a:pt x="3027488" y="24246"/>
                  </a:cubicBezTo>
                  <a:lnTo>
                    <a:pt x="3027488" y="1431901"/>
                  </a:lnTo>
                  <a:cubicBezTo>
                    <a:pt x="3027488" y="1438331"/>
                    <a:pt x="3024934" y="1444499"/>
                    <a:pt x="3020387" y="1449046"/>
                  </a:cubicBezTo>
                  <a:cubicBezTo>
                    <a:pt x="3015840" y="1453593"/>
                    <a:pt x="3009672" y="1456147"/>
                    <a:pt x="3003242" y="1456147"/>
                  </a:cubicBezTo>
                  <a:lnTo>
                    <a:pt x="24246" y="1456147"/>
                  </a:lnTo>
                  <a:cubicBezTo>
                    <a:pt x="17816" y="1456147"/>
                    <a:pt x="11649" y="1453593"/>
                    <a:pt x="7102" y="1449046"/>
                  </a:cubicBezTo>
                  <a:cubicBezTo>
                    <a:pt x="2554" y="1444499"/>
                    <a:pt x="0" y="1438331"/>
                    <a:pt x="0" y="1431901"/>
                  </a:cubicBezTo>
                  <a:lnTo>
                    <a:pt x="0" y="24246"/>
                  </a:lnTo>
                  <a:cubicBezTo>
                    <a:pt x="0" y="17816"/>
                    <a:pt x="2554" y="11649"/>
                    <a:pt x="7102" y="7102"/>
                  </a:cubicBezTo>
                  <a:cubicBezTo>
                    <a:pt x="11649" y="2554"/>
                    <a:pt x="17816" y="0"/>
                    <a:pt x="24246" y="0"/>
                  </a:cubicBezTo>
                  <a:close/>
                </a:path>
              </a:pathLst>
            </a:custGeom>
            <a:solidFill>
              <a:srgbClr val="FFFDFE"/>
            </a:solidFill>
            <a:ln w="19050" cap="sq">
              <a:solidFill>
                <a:srgbClr val="D6D6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027488" cy="1503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3349082" y="7194032"/>
            <a:ext cx="3910218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640657" y="1683956"/>
            <a:ext cx="8267299" cy="3659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02"/>
              </a:lnSpc>
            </a:pPr>
            <a:r>
              <a:rPr lang="en-US" b="true" sz="14102" spc="-9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BUSINESS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34450" y="7270232"/>
            <a:ext cx="1601571" cy="82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8"/>
              </a:lnSpc>
            </a:pPr>
            <a:r>
              <a:rPr lang="en-US" b="true" sz="23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Analytics Evolution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28553" y="8143760"/>
            <a:ext cx="4616494" cy="1397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Descriptive → What happened?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Diagnostic → Why did it happen?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Predictive → What will happen?</a:t>
            </a:r>
          </a:p>
          <a:p>
            <a:pPr algn="l" marL="0" indent="0" lvl="0">
              <a:lnSpc>
                <a:spcPts val="2798"/>
              </a:lnSpc>
            </a:pPr>
            <a:r>
              <a:rPr lang="en-US" sz="19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Prescriptive → What should be done?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8225" y="5719651"/>
            <a:ext cx="2114254" cy="41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b="true" sz="24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CORE ISSUES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650" y="6325869"/>
            <a:ext cx="6567280" cy="318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High Employee Turnover</a:t>
            </a: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Impacts productivity and increases costs</a:t>
            </a: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Performance Tracking</a:t>
            </a: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Difficulty measuring effectiveness</a:t>
            </a: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Recruitment Inefficiencies</a:t>
            </a: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Slow hiring processes</a:t>
            </a:r>
          </a:p>
          <a:p>
            <a:pPr algn="l" marL="0" indent="0" lvl="0">
              <a:lnSpc>
                <a:spcPts val="3219"/>
              </a:lnSpc>
            </a:pP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lang="en-US" b="true" sz="2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Lack of Insights</a:t>
            </a:r>
            <a:r>
              <a:rPr lang="en-US" sz="2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Absence of centralized HR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69955" y="4522288"/>
            <a:ext cx="282899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</a:pPr>
            <a:r>
              <a:rPr lang="en-US" b="true" sz="18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6155" y="4944317"/>
            <a:ext cx="2828997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</a:pPr>
            <a:r>
              <a:rPr lang="en-US" sz="15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Addressing critical gaps in workforce management to enable informed, data-driven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6433287" y="4882556"/>
            <a:ext cx="11832928" cy="1315500"/>
            <a:chOff x="0" y="0"/>
            <a:chExt cx="182468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589" y="0"/>
              <a:ext cx="1805503" cy="202855"/>
            </a:xfrm>
            <a:custGeom>
              <a:avLst/>
              <a:gdLst/>
              <a:ahLst/>
              <a:cxnLst/>
              <a:rect r="r" b="b" t="t" l="l"/>
              <a:pathLst>
                <a:path h="202855" w="1805503">
                  <a:moveTo>
                    <a:pt x="209968" y="0"/>
                  </a:moveTo>
                  <a:lnTo>
                    <a:pt x="1595536" y="0"/>
                  </a:lnTo>
                  <a:cubicBezTo>
                    <a:pt x="1606011" y="0"/>
                    <a:pt x="1616057" y="4156"/>
                    <a:pt x="1623469" y="11556"/>
                  </a:cubicBezTo>
                  <a:lnTo>
                    <a:pt x="1803517" y="191299"/>
                  </a:lnTo>
                  <a:cubicBezTo>
                    <a:pt x="1805455" y="193233"/>
                    <a:pt x="1806036" y="196145"/>
                    <a:pt x="1804990" y="198675"/>
                  </a:cubicBezTo>
                  <a:cubicBezTo>
                    <a:pt x="1803943" y="201205"/>
                    <a:pt x="1801474" y="202855"/>
                    <a:pt x="1798736" y="202855"/>
                  </a:cubicBezTo>
                  <a:lnTo>
                    <a:pt x="6768" y="202855"/>
                  </a:lnTo>
                  <a:cubicBezTo>
                    <a:pt x="4030" y="202855"/>
                    <a:pt x="1561" y="201205"/>
                    <a:pt x="515" y="198675"/>
                  </a:cubicBezTo>
                  <a:cubicBezTo>
                    <a:pt x="-532" y="196145"/>
                    <a:pt x="49" y="193233"/>
                    <a:pt x="1987" y="191299"/>
                  </a:cubicBezTo>
                  <a:lnTo>
                    <a:pt x="182035" y="11556"/>
                  </a:lnTo>
                  <a:cubicBezTo>
                    <a:pt x="189448" y="4156"/>
                    <a:pt x="199494" y="0"/>
                    <a:pt x="20996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57068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100000">
            <a:off x="10084091" y="2265709"/>
            <a:ext cx="4431367" cy="1315500"/>
            <a:chOff x="0" y="0"/>
            <a:chExt cx="683334" cy="202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5606" y="0"/>
              <a:ext cx="632121" cy="202855"/>
            </a:xfrm>
            <a:custGeom>
              <a:avLst/>
              <a:gdLst/>
              <a:ahLst/>
              <a:cxnLst/>
              <a:rect r="r" b="b" t="t" l="l"/>
              <a:pathLst>
                <a:path h="202855" w="632121">
                  <a:moveTo>
                    <a:pt x="221271" y="0"/>
                  </a:moveTo>
                  <a:lnTo>
                    <a:pt x="410851" y="0"/>
                  </a:lnTo>
                  <a:cubicBezTo>
                    <a:pt x="438819" y="0"/>
                    <a:pt x="465645" y="11098"/>
                    <a:pt x="485438" y="30858"/>
                  </a:cubicBezTo>
                  <a:lnTo>
                    <a:pt x="626817" y="171997"/>
                  </a:lnTo>
                  <a:cubicBezTo>
                    <a:pt x="631992" y="177163"/>
                    <a:pt x="633543" y="184937"/>
                    <a:pt x="630748" y="191693"/>
                  </a:cubicBezTo>
                  <a:cubicBezTo>
                    <a:pt x="627953" y="198449"/>
                    <a:pt x="621362" y="202855"/>
                    <a:pt x="614051" y="202855"/>
                  </a:cubicBezTo>
                  <a:lnTo>
                    <a:pt x="18071" y="202855"/>
                  </a:lnTo>
                  <a:cubicBezTo>
                    <a:pt x="10759" y="202855"/>
                    <a:pt x="4169" y="198449"/>
                    <a:pt x="1374" y="191693"/>
                  </a:cubicBezTo>
                  <a:cubicBezTo>
                    <a:pt x="-1422" y="184937"/>
                    <a:pt x="130" y="177163"/>
                    <a:pt x="5304" y="171997"/>
                  </a:cubicBezTo>
                  <a:lnTo>
                    <a:pt x="146684" y="30858"/>
                  </a:lnTo>
                  <a:cubicBezTo>
                    <a:pt x="166477" y="11098"/>
                    <a:pt x="193302" y="0"/>
                    <a:pt x="2212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429334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172700" y="2700970"/>
            <a:ext cx="7086600" cy="6557330"/>
            <a:chOff x="0" y="0"/>
            <a:chExt cx="1685347" cy="1559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85346" cy="1559475"/>
            </a:xfrm>
            <a:custGeom>
              <a:avLst/>
              <a:gdLst/>
              <a:ahLst/>
              <a:cxnLst/>
              <a:rect r="r" b="b" t="t" l="l"/>
              <a:pathLst>
                <a:path h="1559475" w="1685346">
                  <a:moveTo>
                    <a:pt x="473267" y="77131"/>
                  </a:moveTo>
                  <a:lnTo>
                    <a:pt x="404467" y="249131"/>
                  </a:lnTo>
                  <a:cubicBezTo>
                    <a:pt x="385834" y="295713"/>
                    <a:pt x="340719" y="326259"/>
                    <a:pt x="290548" y="326262"/>
                  </a:cubicBezTo>
                  <a:lnTo>
                    <a:pt x="122702" y="326262"/>
                  </a:lnTo>
                  <a:cubicBezTo>
                    <a:pt x="54936" y="326262"/>
                    <a:pt x="1" y="381197"/>
                    <a:pt x="0" y="448963"/>
                  </a:cubicBezTo>
                  <a:lnTo>
                    <a:pt x="0" y="1436774"/>
                  </a:lnTo>
                  <a:cubicBezTo>
                    <a:pt x="1" y="1504540"/>
                    <a:pt x="54936" y="1559475"/>
                    <a:pt x="122702" y="1559475"/>
                  </a:cubicBezTo>
                  <a:lnTo>
                    <a:pt x="1562644" y="1559475"/>
                  </a:lnTo>
                  <a:cubicBezTo>
                    <a:pt x="1630410" y="1559475"/>
                    <a:pt x="1685345" y="1504540"/>
                    <a:pt x="1685346" y="1436774"/>
                  </a:cubicBezTo>
                  <a:lnTo>
                    <a:pt x="1685346" y="122701"/>
                  </a:lnTo>
                  <a:cubicBezTo>
                    <a:pt x="1685345" y="54935"/>
                    <a:pt x="1630410" y="1"/>
                    <a:pt x="1562645" y="0"/>
                  </a:cubicBezTo>
                  <a:lnTo>
                    <a:pt x="587191" y="0"/>
                  </a:lnTo>
                  <a:cubicBezTo>
                    <a:pt x="537018" y="0"/>
                    <a:pt x="491900" y="30547"/>
                    <a:pt x="473267" y="77131"/>
                  </a:cubicBezTo>
                  <a:close/>
                </a:path>
              </a:pathLst>
            </a:custGeom>
            <a:blipFill>
              <a:blip r:embed="rId2"/>
              <a:stretch>
                <a:fillRect l="0" t="-4035" r="0" b="-4035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1028700" y="2696207"/>
            <a:ext cx="8115300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982396"/>
            <a:ext cx="9667093" cy="122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56"/>
              </a:lnSpc>
            </a:pPr>
            <a:r>
              <a:rPr lang="en-US" b="true" sz="9156" spc="-640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PROJECT OBJECTIVES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93546"/>
            <a:ext cx="431765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19"/>
              </a:lnSpc>
            </a:pPr>
            <a:r>
              <a:rPr lang="en-US" b="true" sz="3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KEY 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5632" y="3812697"/>
            <a:ext cx="8041438" cy="3980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19"/>
              </a:lnSpc>
            </a:pPr>
            <a:r>
              <a:rPr lang="en-US" sz="3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Analyze employeebehavior to identifyattrition drivers</a:t>
            </a:r>
          </a:p>
          <a:p>
            <a:pPr algn="l" marL="0" indent="0" lvl="0">
              <a:lnSpc>
                <a:spcPts val="5319"/>
              </a:lnSpc>
            </a:pPr>
            <a:r>
              <a:rPr lang="en-US" sz="3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Detect high-riskemployees early</a:t>
            </a:r>
          </a:p>
          <a:p>
            <a:pPr algn="l" marL="0" indent="0" lvl="0">
              <a:lnSpc>
                <a:spcPts val="5319"/>
              </a:lnSpc>
            </a:pPr>
            <a:r>
              <a:rPr lang="en-US" sz="3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Support HR decision-making with data</a:t>
            </a:r>
          </a:p>
          <a:p>
            <a:pPr algn="l" marL="0" indent="0" lvl="0">
              <a:lnSpc>
                <a:spcPts val="5319"/>
              </a:lnSpc>
            </a:pPr>
            <a:r>
              <a:rPr lang="en-US" sz="3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Monitor workforce health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4447395" y="3854503"/>
            <a:ext cx="8902070" cy="1315500"/>
            <a:chOff x="0" y="0"/>
            <a:chExt cx="1372733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47" y="0"/>
              <a:ext cx="1347240" cy="202855"/>
            </a:xfrm>
            <a:custGeom>
              <a:avLst/>
              <a:gdLst/>
              <a:ahLst/>
              <a:cxnLst/>
              <a:rect r="r" b="b" t="t" l="l"/>
              <a:pathLst>
                <a:path h="202855" w="1347240">
                  <a:moveTo>
                    <a:pt x="212195" y="0"/>
                  </a:moveTo>
                  <a:lnTo>
                    <a:pt x="1135044" y="0"/>
                  </a:lnTo>
                  <a:cubicBezTo>
                    <a:pt x="1148966" y="0"/>
                    <a:pt x="1162320" y="5525"/>
                    <a:pt x="1172173" y="15361"/>
                  </a:cubicBezTo>
                  <a:lnTo>
                    <a:pt x="1344599" y="187494"/>
                  </a:lnTo>
                  <a:cubicBezTo>
                    <a:pt x="1347175" y="190066"/>
                    <a:pt x="1347947" y="193936"/>
                    <a:pt x="1346556" y="197299"/>
                  </a:cubicBezTo>
                  <a:cubicBezTo>
                    <a:pt x="1345164" y="200662"/>
                    <a:pt x="1341883" y="202855"/>
                    <a:pt x="1338244" y="202855"/>
                  </a:cubicBezTo>
                  <a:lnTo>
                    <a:pt x="8995" y="202855"/>
                  </a:lnTo>
                  <a:cubicBezTo>
                    <a:pt x="5355" y="202855"/>
                    <a:pt x="2075" y="200662"/>
                    <a:pt x="683" y="197299"/>
                  </a:cubicBezTo>
                  <a:cubicBezTo>
                    <a:pt x="-708" y="193936"/>
                    <a:pt x="64" y="190066"/>
                    <a:pt x="2640" y="187494"/>
                  </a:cubicBezTo>
                  <a:lnTo>
                    <a:pt x="175066" y="15361"/>
                  </a:lnTo>
                  <a:cubicBezTo>
                    <a:pt x="184919" y="5525"/>
                    <a:pt x="198273" y="0"/>
                    <a:pt x="212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118733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78794" y="1028700"/>
            <a:ext cx="6437553" cy="5162026"/>
            <a:chOff x="0" y="0"/>
            <a:chExt cx="2835044" cy="2273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5044" cy="2273313"/>
            </a:xfrm>
            <a:custGeom>
              <a:avLst/>
              <a:gdLst/>
              <a:ahLst/>
              <a:cxnLst/>
              <a:rect r="r" b="b" t="t" l="l"/>
              <a:pathLst>
                <a:path h="2273313" w="2835044">
                  <a:moveTo>
                    <a:pt x="2420781" y="38122"/>
                  </a:moveTo>
                  <a:cubicBezTo>
                    <a:pt x="2399082" y="13865"/>
                    <a:pt x="2368076" y="0"/>
                    <a:pt x="2026420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62539"/>
                  </a:lnTo>
                  <a:cubicBezTo>
                    <a:pt x="0" y="1690678"/>
                    <a:pt x="10372" y="1717829"/>
                    <a:pt x="29133" y="1738801"/>
                  </a:cubicBezTo>
                  <a:lnTo>
                    <a:pt x="248999" y="1984585"/>
                  </a:lnTo>
                  <a:cubicBezTo>
                    <a:pt x="270698" y="2008842"/>
                    <a:pt x="301704" y="2022706"/>
                    <a:pt x="334250" y="2022706"/>
                  </a:cubicBezTo>
                  <a:lnTo>
                    <a:pt x="587615" y="2022706"/>
                  </a:lnTo>
                  <a:cubicBezTo>
                    <a:pt x="620162" y="2022706"/>
                    <a:pt x="651168" y="2036571"/>
                    <a:pt x="672868" y="2060829"/>
                  </a:cubicBezTo>
                  <a:lnTo>
                    <a:pt x="828844" y="2235191"/>
                  </a:lnTo>
                  <a:cubicBezTo>
                    <a:pt x="850543" y="2259448"/>
                    <a:pt x="881549" y="2273313"/>
                    <a:pt x="914095" y="2273313"/>
                  </a:cubicBezTo>
                  <a:lnTo>
                    <a:pt x="2720659" y="2273313"/>
                  </a:lnTo>
                  <a:cubicBezTo>
                    <a:pt x="2750995" y="2273313"/>
                    <a:pt x="2780090" y="2261262"/>
                    <a:pt x="2801541" y="2239811"/>
                  </a:cubicBezTo>
                  <a:cubicBezTo>
                    <a:pt x="2822992" y="2218360"/>
                    <a:pt x="2835044" y="2189266"/>
                    <a:pt x="2835044" y="2158929"/>
                  </a:cubicBezTo>
                  <a:lnTo>
                    <a:pt x="2835044" y="2022706"/>
                  </a:lnTo>
                  <a:lnTo>
                    <a:pt x="2835044" y="567445"/>
                  </a:lnTo>
                  <a:cubicBezTo>
                    <a:pt x="2835044" y="524794"/>
                    <a:pt x="2819322" y="483639"/>
                    <a:pt x="2790886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29" r="0" b="-42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44821" y="4347790"/>
            <a:ext cx="3831665" cy="1842936"/>
            <a:chOff x="0" y="0"/>
            <a:chExt cx="3027488" cy="14561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27488" cy="1456147"/>
            </a:xfrm>
            <a:custGeom>
              <a:avLst/>
              <a:gdLst/>
              <a:ahLst/>
              <a:cxnLst/>
              <a:rect r="r" b="b" t="t" l="l"/>
              <a:pathLst>
                <a:path h="1456147" w="3027488">
                  <a:moveTo>
                    <a:pt x="24246" y="0"/>
                  </a:moveTo>
                  <a:lnTo>
                    <a:pt x="3003242" y="0"/>
                  </a:lnTo>
                  <a:cubicBezTo>
                    <a:pt x="3009672" y="0"/>
                    <a:pt x="3015840" y="2554"/>
                    <a:pt x="3020387" y="7102"/>
                  </a:cubicBezTo>
                  <a:cubicBezTo>
                    <a:pt x="3024934" y="11649"/>
                    <a:pt x="3027488" y="17816"/>
                    <a:pt x="3027488" y="24246"/>
                  </a:cubicBezTo>
                  <a:lnTo>
                    <a:pt x="3027488" y="1431901"/>
                  </a:lnTo>
                  <a:cubicBezTo>
                    <a:pt x="3027488" y="1438331"/>
                    <a:pt x="3024934" y="1444499"/>
                    <a:pt x="3020387" y="1449046"/>
                  </a:cubicBezTo>
                  <a:cubicBezTo>
                    <a:pt x="3015840" y="1453593"/>
                    <a:pt x="3009672" y="1456147"/>
                    <a:pt x="3003242" y="1456147"/>
                  </a:cubicBezTo>
                  <a:lnTo>
                    <a:pt x="24246" y="1456147"/>
                  </a:lnTo>
                  <a:cubicBezTo>
                    <a:pt x="17816" y="1456147"/>
                    <a:pt x="11649" y="1453593"/>
                    <a:pt x="7102" y="1449046"/>
                  </a:cubicBezTo>
                  <a:cubicBezTo>
                    <a:pt x="2554" y="1444499"/>
                    <a:pt x="0" y="1438331"/>
                    <a:pt x="0" y="1431901"/>
                  </a:cubicBezTo>
                  <a:lnTo>
                    <a:pt x="0" y="24246"/>
                  </a:lnTo>
                  <a:cubicBezTo>
                    <a:pt x="0" y="17816"/>
                    <a:pt x="2554" y="11649"/>
                    <a:pt x="7102" y="7102"/>
                  </a:cubicBezTo>
                  <a:cubicBezTo>
                    <a:pt x="11649" y="2554"/>
                    <a:pt x="17816" y="0"/>
                    <a:pt x="24246" y="0"/>
                  </a:cubicBezTo>
                  <a:close/>
                </a:path>
              </a:pathLst>
            </a:custGeom>
            <a:solidFill>
              <a:srgbClr val="FFFDFE"/>
            </a:solidFill>
            <a:ln w="19050" cap="sq">
              <a:solidFill>
                <a:srgbClr val="D6D6D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027488" cy="1503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13349082" y="7194032"/>
            <a:ext cx="3910218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4408956"/>
            <a:ext cx="8267299" cy="188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112"/>
              </a:lnSpc>
            </a:pPr>
            <a:r>
              <a:rPr lang="en-US" b="true" sz="14112" spc="-9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DATA SOURCES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28829" y="6673156"/>
            <a:ext cx="2497310" cy="356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8"/>
              </a:lnSpc>
            </a:pPr>
            <a:r>
              <a:rPr lang="en-US" b="true" sz="20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Data Categories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0797" y="7372318"/>
            <a:ext cx="5661522" cy="204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8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 Excel Files: Primary data repository</a:t>
            </a:r>
          </a:p>
          <a:p>
            <a:pPr algn="l">
              <a:lnSpc>
                <a:spcPts val="4058"/>
              </a:lnSpc>
            </a:pPr>
            <a:r>
              <a:rPr lang="en-US" sz="28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•• Hiring &amp; Attrition: Recruitment and historical exit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45046" y="2157413"/>
            <a:ext cx="2114254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b="true" sz="14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USE CASES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45046" y="2528571"/>
            <a:ext cx="2745678" cy="76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Centralized data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Structured storage</a:t>
            </a:r>
          </a:p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Automated pipelines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46155" y="4807473"/>
            <a:ext cx="2356018" cy="2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b="true" sz="14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DATA INTEGRITY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846155" y="5178631"/>
            <a:ext cx="2828997" cy="50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98"/>
              </a:lnSpc>
            </a:pPr>
            <a:r>
              <a:rPr lang="en-US" sz="14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All sources are cleaned and standardized for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5373913" y="7838911"/>
            <a:ext cx="3456217" cy="1315500"/>
            <a:chOff x="0" y="0"/>
            <a:chExt cx="53296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831" y="0"/>
              <a:ext cx="467299" cy="202855"/>
            </a:xfrm>
            <a:custGeom>
              <a:avLst/>
              <a:gdLst/>
              <a:ahLst/>
              <a:cxnLst/>
              <a:rect r="r" b="b" t="t" l="l"/>
              <a:pathLst>
                <a:path h="202855" w="467299">
                  <a:moveTo>
                    <a:pt x="226369" y="0"/>
                  </a:moveTo>
                  <a:lnTo>
                    <a:pt x="240931" y="0"/>
                  </a:lnTo>
                  <a:cubicBezTo>
                    <a:pt x="276790" y="0"/>
                    <a:pt x="311184" y="14229"/>
                    <a:pt x="336562" y="39564"/>
                  </a:cubicBezTo>
                  <a:lnTo>
                    <a:pt x="460499" y="163291"/>
                  </a:lnTo>
                  <a:cubicBezTo>
                    <a:pt x="467133" y="169914"/>
                    <a:pt x="469123" y="179882"/>
                    <a:pt x="465539" y="188544"/>
                  </a:cubicBezTo>
                  <a:cubicBezTo>
                    <a:pt x="461955" y="197206"/>
                    <a:pt x="453505" y="202855"/>
                    <a:pt x="444131" y="202855"/>
                  </a:cubicBezTo>
                  <a:lnTo>
                    <a:pt x="23169" y="202855"/>
                  </a:lnTo>
                  <a:cubicBezTo>
                    <a:pt x="13795" y="202855"/>
                    <a:pt x="5344" y="197206"/>
                    <a:pt x="1761" y="188544"/>
                  </a:cubicBezTo>
                  <a:cubicBezTo>
                    <a:pt x="-1823" y="179882"/>
                    <a:pt x="166" y="169914"/>
                    <a:pt x="6801" y="163291"/>
                  </a:cubicBezTo>
                  <a:lnTo>
                    <a:pt x="130737" y="39564"/>
                  </a:lnTo>
                  <a:cubicBezTo>
                    <a:pt x="156115" y="14229"/>
                    <a:pt x="190510" y="0"/>
                    <a:pt x="2263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27896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36086" y="1064128"/>
            <a:ext cx="9308862" cy="2728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21"/>
              </a:lnSpc>
            </a:pPr>
            <a:r>
              <a:rPr lang="en-US" b="true" sz="10521" spc="-736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DATA CLEANING PROCESS</a:t>
            </a:r>
          </a:p>
        </p:txBody>
      </p:sp>
      <p:grpSp>
        <p:nvGrpSpPr>
          <p:cNvPr name="Group 6" id="6"/>
          <p:cNvGrpSpPr/>
          <p:nvPr/>
        </p:nvGrpSpPr>
        <p:grpSpPr>
          <a:xfrm rot="8100000">
            <a:off x="-89242" y="5577379"/>
            <a:ext cx="9856701" cy="1315500"/>
            <a:chOff x="0" y="0"/>
            <a:chExt cx="1519941" cy="202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512" y="0"/>
              <a:ext cx="1496916" cy="202855"/>
            </a:xfrm>
            <a:custGeom>
              <a:avLst/>
              <a:gdLst/>
              <a:ahLst/>
              <a:cxnLst/>
              <a:rect r="r" b="b" t="t" l="l"/>
              <a:pathLst>
                <a:path h="202855" w="1496916">
                  <a:moveTo>
                    <a:pt x="211324" y="0"/>
                  </a:moveTo>
                  <a:lnTo>
                    <a:pt x="1285592" y="0"/>
                  </a:lnTo>
                  <a:cubicBezTo>
                    <a:pt x="1298166" y="0"/>
                    <a:pt x="1310227" y="4989"/>
                    <a:pt x="1319125" y="13873"/>
                  </a:cubicBezTo>
                  <a:lnTo>
                    <a:pt x="1494532" y="188982"/>
                  </a:lnTo>
                  <a:cubicBezTo>
                    <a:pt x="1496858" y="191304"/>
                    <a:pt x="1497556" y="194800"/>
                    <a:pt x="1496299" y="197837"/>
                  </a:cubicBezTo>
                  <a:cubicBezTo>
                    <a:pt x="1495043" y="200874"/>
                    <a:pt x="1492079" y="202855"/>
                    <a:pt x="1488792" y="202855"/>
                  </a:cubicBezTo>
                  <a:lnTo>
                    <a:pt x="8124" y="202855"/>
                  </a:lnTo>
                  <a:cubicBezTo>
                    <a:pt x="4837" y="202855"/>
                    <a:pt x="1874" y="200874"/>
                    <a:pt x="617" y="197837"/>
                  </a:cubicBezTo>
                  <a:cubicBezTo>
                    <a:pt x="-639" y="194800"/>
                    <a:pt x="58" y="191304"/>
                    <a:pt x="2385" y="188982"/>
                  </a:cubicBezTo>
                  <a:lnTo>
                    <a:pt x="177791" y="13873"/>
                  </a:lnTo>
                  <a:cubicBezTo>
                    <a:pt x="186690" y="4989"/>
                    <a:pt x="198750" y="0"/>
                    <a:pt x="2113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47625"/>
              <a:ext cx="126594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057900" cy="8229600"/>
            <a:chOff x="0" y="0"/>
            <a:chExt cx="1381939" cy="187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1939" cy="1877351"/>
            </a:xfrm>
            <a:custGeom>
              <a:avLst/>
              <a:gdLst/>
              <a:ahLst/>
              <a:cxnLst/>
              <a:rect r="r" b="b" t="t" l="l"/>
              <a:pathLst>
                <a:path h="1877351" w="1381939">
                  <a:moveTo>
                    <a:pt x="0" y="124380"/>
                  </a:moveTo>
                  <a:lnTo>
                    <a:pt x="0" y="1481194"/>
                  </a:lnTo>
                  <a:cubicBezTo>
                    <a:pt x="0" y="1549887"/>
                    <a:pt x="55687" y="1605574"/>
                    <a:pt x="124380" y="1605574"/>
                  </a:cubicBezTo>
                  <a:lnTo>
                    <a:pt x="267087" y="1605574"/>
                  </a:lnTo>
                  <a:cubicBezTo>
                    <a:pt x="303063" y="1605574"/>
                    <a:pt x="337276" y="1621150"/>
                    <a:pt x="360898" y="1648284"/>
                  </a:cubicBezTo>
                  <a:lnTo>
                    <a:pt x="523133" y="1834640"/>
                  </a:lnTo>
                  <a:cubicBezTo>
                    <a:pt x="546755" y="1861774"/>
                    <a:pt x="580969" y="1877351"/>
                    <a:pt x="616944" y="1877351"/>
                  </a:cubicBezTo>
                  <a:lnTo>
                    <a:pt x="1088079" y="1877351"/>
                  </a:lnTo>
                  <a:cubicBezTo>
                    <a:pt x="1123987" y="1877351"/>
                    <a:pt x="1158143" y="1861832"/>
                    <a:pt x="1181763" y="1834786"/>
                  </a:cubicBezTo>
                  <a:lnTo>
                    <a:pt x="1340954" y="1652504"/>
                  </a:lnTo>
                  <a:cubicBezTo>
                    <a:pt x="1367377" y="1622247"/>
                    <a:pt x="1381939" y="1583437"/>
                    <a:pt x="1381939" y="154326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688" t="0" r="-688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flipH="true" flipV="true">
            <a:off x="10468127" y="5279182"/>
            <a:ext cx="0" cy="3265105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7797425" y="4792235"/>
            <a:ext cx="2748114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58"/>
              </a:lnSpc>
            </a:pPr>
            <a:r>
              <a:rPr lang="en-US" b="true" sz="2298" spc="-57">
                <a:solidFill>
                  <a:srgbClr val="30303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DATA CLEANING METHODOLOGY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25314" y="4626596"/>
            <a:ext cx="2346203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b="true" sz="27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Remove Duplicates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25314" y="5949801"/>
            <a:ext cx="2346203" cy="147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b="true" sz="27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Handle Missing Values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25314" y="7887239"/>
            <a:ext cx="2346203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b="true" sz="2798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Standardize &amp; Validate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362294" y="4540871"/>
            <a:ext cx="3814192" cy="147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sz="27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Eliminate duplicate records to ensure data accuracy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57267" y="6283176"/>
            <a:ext cx="4830733" cy="97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sz="27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Use imputation or exclusion methods for completeness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0516" y="7639589"/>
            <a:ext cx="3544581" cy="147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8"/>
              </a:lnSpc>
            </a:pPr>
            <a:r>
              <a:rPr lang="en-US" sz="2798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Ensure consistent formats and verify data reliability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8088606" y="4835365"/>
            <a:ext cx="8902070" cy="1315500"/>
            <a:chOff x="0" y="0"/>
            <a:chExt cx="1372733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47" y="0"/>
              <a:ext cx="1347240" cy="202855"/>
            </a:xfrm>
            <a:custGeom>
              <a:avLst/>
              <a:gdLst/>
              <a:ahLst/>
              <a:cxnLst/>
              <a:rect r="r" b="b" t="t" l="l"/>
              <a:pathLst>
                <a:path h="202855" w="1347240">
                  <a:moveTo>
                    <a:pt x="212195" y="0"/>
                  </a:moveTo>
                  <a:lnTo>
                    <a:pt x="1135044" y="0"/>
                  </a:lnTo>
                  <a:cubicBezTo>
                    <a:pt x="1148966" y="0"/>
                    <a:pt x="1162320" y="5525"/>
                    <a:pt x="1172173" y="15361"/>
                  </a:cubicBezTo>
                  <a:lnTo>
                    <a:pt x="1344599" y="187494"/>
                  </a:lnTo>
                  <a:cubicBezTo>
                    <a:pt x="1347175" y="190066"/>
                    <a:pt x="1347947" y="193936"/>
                    <a:pt x="1346556" y="197299"/>
                  </a:cubicBezTo>
                  <a:cubicBezTo>
                    <a:pt x="1345164" y="200662"/>
                    <a:pt x="1341883" y="202855"/>
                    <a:pt x="1338244" y="202855"/>
                  </a:cubicBezTo>
                  <a:lnTo>
                    <a:pt x="8995" y="202855"/>
                  </a:lnTo>
                  <a:cubicBezTo>
                    <a:pt x="5355" y="202855"/>
                    <a:pt x="2075" y="200662"/>
                    <a:pt x="683" y="197299"/>
                  </a:cubicBezTo>
                  <a:cubicBezTo>
                    <a:pt x="-708" y="193936"/>
                    <a:pt x="64" y="190066"/>
                    <a:pt x="2640" y="187494"/>
                  </a:cubicBezTo>
                  <a:lnTo>
                    <a:pt x="175066" y="15361"/>
                  </a:lnTo>
                  <a:cubicBezTo>
                    <a:pt x="184919" y="5525"/>
                    <a:pt x="198273" y="0"/>
                    <a:pt x="2121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118733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45359" y="2009562"/>
            <a:ext cx="6437553" cy="5162026"/>
            <a:chOff x="0" y="0"/>
            <a:chExt cx="2835044" cy="22733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35044" cy="2273313"/>
            </a:xfrm>
            <a:custGeom>
              <a:avLst/>
              <a:gdLst/>
              <a:ahLst/>
              <a:cxnLst/>
              <a:rect r="r" b="b" t="t" l="l"/>
              <a:pathLst>
                <a:path h="2273313" w="2835044">
                  <a:moveTo>
                    <a:pt x="2420781" y="38122"/>
                  </a:moveTo>
                  <a:cubicBezTo>
                    <a:pt x="2399082" y="13865"/>
                    <a:pt x="2368076" y="0"/>
                    <a:pt x="2026420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62539"/>
                  </a:lnTo>
                  <a:cubicBezTo>
                    <a:pt x="0" y="1690678"/>
                    <a:pt x="10372" y="1717829"/>
                    <a:pt x="29133" y="1738801"/>
                  </a:cubicBezTo>
                  <a:lnTo>
                    <a:pt x="248999" y="1984585"/>
                  </a:lnTo>
                  <a:cubicBezTo>
                    <a:pt x="270698" y="2008842"/>
                    <a:pt x="301704" y="2022706"/>
                    <a:pt x="334250" y="2022706"/>
                  </a:cubicBezTo>
                  <a:lnTo>
                    <a:pt x="587615" y="2022706"/>
                  </a:lnTo>
                  <a:cubicBezTo>
                    <a:pt x="620162" y="2022706"/>
                    <a:pt x="651168" y="2036571"/>
                    <a:pt x="672868" y="2060829"/>
                  </a:cubicBezTo>
                  <a:lnTo>
                    <a:pt x="828844" y="2235191"/>
                  </a:lnTo>
                  <a:cubicBezTo>
                    <a:pt x="850543" y="2259448"/>
                    <a:pt x="881549" y="2273313"/>
                    <a:pt x="914095" y="2273313"/>
                  </a:cubicBezTo>
                  <a:lnTo>
                    <a:pt x="2720659" y="2273313"/>
                  </a:lnTo>
                  <a:cubicBezTo>
                    <a:pt x="2750995" y="2273313"/>
                    <a:pt x="2780090" y="2261262"/>
                    <a:pt x="2801541" y="2239811"/>
                  </a:cubicBezTo>
                  <a:cubicBezTo>
                    <a:pt x="2822992" y="2218360"/>
                    <a:pt x="2835044" y="2189266"/>
                    <a:pt x="2835044" y="2158929"/>
                  </a:cubicBezTo>
                  <a:lnTo>
                    <a:pt x="2835044" y="2022706"/>
                  </a:lnTo>
                  <a:lnTo>
                    <a:pt x="2835044" y="567445"/>
                  </a:lnTo>
                  <a:cubicBezTo>
                    <a:pt x="2835044" y="524794"/>
                    <a:pt x="2819322" y="483639"/>
                    <a:pt x="2790886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29" r="0" b="-42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41953" y="3027041"/>
            <a:ext cx="8267299" cy="2622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39"/>
              </a:lnSpc>
            </a:pPr>
            <a:r>
              <a:rPr lang="en-US" b="true" sz="10039" spc="-70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DATA MODEL</a:t>
            </a:r>
          </a:p>
          <a:p>
            <a:pPr algn="l" marL="0" indent="0" lvl="0">
              <a:lnSpc>
                <a:spcPts val="10039"/>
              </a:lnSpc>
            </a:pPr>
            <a:r>
              <a:rPr lang="en-US" b="true" sz="10039" spc="-70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STAR SCHEMA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0017" y="914400"/>
            <a:ext cx="3808092" cy="165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9"/>
              </a:lnSpc>
            </a:pPr>
            <a:r>
              <a:rPr lang="en-US" b="true" sz="18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TRANSFORMING RAW HR DATA INTO A STRUCTURED, EFFICIENT STAR SCHEMA FOR OPTIMIZED QUERYING AND REPORTING.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2831" y="6220289"/>
            <a:ext cx="1863277" cy="38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9"/>
              </a:lnSpc>
            </a:pPr>
            <a:r>
              <a:rPr lang="en-US" b="true" sz="22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Data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93658" y="6717782"/>
            <a:ext cx="6615593" cy="295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b="true" sz="27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Fact Tables</a:t>
            </a:r>
            <a:r>
              <a:rPr lang="en-US" sz="2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Store measurable KPIs (Recruitment, Performance, Pulse)</a:t>
            </a:r>
          </a:p>
          <a:p>
            <a:pPr algn="l" marL="0" indent="0" lvl="0">
              <a:lnSpc>
                <a:spcPts val="3919"/>
              </a:lnSpc>
            </a:pPr>
            <a:r>
              <a:rPr lang="en-US" b="true" sz="27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Dimension Tables</a:t>
            </a:r>
            <a:r>
              <a:rPr lang="en-US" sz="2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Descriptive info for filtering (Employee, Calendar)</a:t>
            </a:r>
          </a:p>
          <a:p>
            <a:pPr algn="l" marL="0" indent="0" lvl="0">
              <a:lnSpc>
                <a:spcPts val="3919"/>
              </a:lnSpc>
            </a:pPr>
            <a:r>
              <a:rPr lang="en-US" b="true" sz="27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Benefits</a:t>
            </a:r>
            <a:r>
              <a:rPr lang="en-US" sz="27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: Faster analysis &amp; improved data relationships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78268"/>
            <a:ext cx="11661440" cy="382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775"/>
              </a:lnSpc>
            </a:pPr>
            <a:r>
              <a:rPr lang="en-US" b="true" sz="14775" spc="-1034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KEY PERFORMANCE INDICATORS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929544"/>
            <a:ext cx="5023961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General &amp; Executive KPIs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Total Headcount: 10K Employees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Attrition Rate: 23.87%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Average Tenure: 22.24 Years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KPI Achievement: 73.98%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99401" y="4929544"/>
            <a:ext cx="8981480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Performance &amp; Satisfaction KPIs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KPI Achievement: 73.98% (Target: 74.56% | Gap: -0.78%)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Skill Acquisition: 66.10% (Target: 0.66 | Gap: +0.42%)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Quality Of Work: 69.81% (Target: 70.28% | Gap: -0.67%)</a:t>
            </a: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Pulse Score (Satisfaction): 70.55 (Target: 71.49 | Gap: -1.32%)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736421"/>
            <a:ext cx="7046714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Compensation &amp; Cost KPIs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Total Salary: $1.25bn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Comp Vs Market: +8.76% (Above market average)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Total Acquisition Cost: $1.84bn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Average Cost Per Hire: $73.67K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61224" y="7963751"/>
            <a:ext cx="7456408" cy="156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Retention Risk KPIs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High Risk &amp; Below Market Employees: 346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High Potential &amp; High Risk Employees: 8 (Critical Talent)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Average Tenure Of Leavers: 22.32 Years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153" y="463654"/>
            <a:ext cx="7569464" cy="321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23"/>
              </a:lnSpc>
            </a:pPr>
            <a:r>
              <a:rPr lang="en-US" b="true" sz="12323" spc="-86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INSIGHTS FROM DATA</a:t>
            </a:r>
          </a:p>
        </p:txBody>
      </p:sp>
      <p:grpSp>
        <p:nvGrpSpPr>
          <p:cNvPr name="Group 3" id="3"/>
          <p:cNvGrpSpPr/>
          <p:nvPr/>
        </p:nvGrpSpPr>
        <p:grpSpPr>
          <a:xfrm rot="-8100000">
            <a:off x="9731771" y="4291263"/>
            <a:ext cx="5222954" cy="1315500"/>
            <a:chOff x="0" y="0"/>
            <a:chExt cx="805399" cy="20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726" y="0"/>
              <a:ext cx="761948" cy="202855"/>
            </a:xfrm>
            <a:custGeom>
              <a:avLst/>
              <a:gdLst/>
              <a:ahLst/>
              <a:cxnLst/>
              <a:rect r="r" b="b" t="t" l="l"/>
              <a:pathLst>
                <a:path h="202855" w="761948">
                  <a:moveTo>
                    <a:pt x="218531" y="0"/>
                  </a:moveTo>
                  <a:lnTo>
                    <a:pt x="543416" y="0"/>
                  </a:lnTo>
                  <a:cubicBezTo>
                    <a:pt x="567146" y="0"/>
                    <a:pt x="589905" y="9416"/>
                    <a:pt x="606699" y="26181"/>
                  </a:cubicBezTo>
                  <a:lnTo>
                    <a:pt x="757448" y="176674"/>
                  </a:lnTo>
                  <a:cubicBezTo>
                    <a:pt x="761838" y="181057"/>
                    <a:pt x="763154" y="187653"/>
                    <a:pt x="760783" y="193385"/>
                  </a:cubicBezTo>
                  <a:cubicBezTo>
                    <a:pt x="758411" y="199117"/>
                    <a:pt x="752819" y="202855"/>
                    <a:pt x="746616" y="202855"/>
                  </a:cubicBezTo>
                  <a:lnTo>
                    <a:pt x="15331" y="202855"/>
                  </a:lnTo>
                  <a:cubicBezTo>
                    <a:pt x="9128" y="202855"/>
                    <a:pt x="3536" y="199117"/>
                    <a:pt x="1165" y="193385"/>
                  </a:cubicBezTo>
                  <a:cubicBezTo>
                    <a:pt x="-1207" y="187653"/>
                    <a:pt x="110" y="181057"/>
                    <a:pt x="4500" y="176674"/>
                  </a:cubicBezTo>
                  <a:lnTo>
                    <a:pt x="155248" y="26181"/>
                  </a:lnTo>
                  <a:cubicBezTo>
                    <a:pt x="172042" y="9416"/>
                    <a:pt x="194802" y="0"/>
                    <a:pt x="218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47625"/>
              <a:ext cx="551399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267517"/>
            <a:ext cx="9484171" cy="476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Executive &amp; Performance Summary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The High-Level View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Managing a workforce of 10K employees with a stable overall average tenure of 22.2 years.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Performance Gap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General KPI achievement hit 73.98%, narrowly missing the 74.56% target.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Skill vs. Engagement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While Skill Acquisition (+0.42%) exceeded targets, Quality of Work (-0.67%) and employee Pulse Scores (-1.32%) both fell short, highlighting a dip in morale.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28571" y="2637320"/>
            <a:ext cx="6452740" cy="3393744"/>
            <a:chOff x="0" y="0"/>
            <a:chExt cx="4207648" cy="221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7647" cy="2212964"/>
            </a:xfrm>
            <a:custGeom>
              <a:avLst/>
              <a:gdLst/>
              <a:ahLst/>
              <a:cxnLst/>
              <a:rect r="r" b="b" t="t" l="l"/>
              <a:pathLst>
                <a:path h="2212964" w="4207647">
                  <a:moveTo>
                    <a:pt x="3793385" y="38122"/>
                  </a:moveTo>
                  <a:cubicBezTo>
                    <a:pt x="3771686" y="13865"/>
                    <a:pt x="3740680" y="0"/>
                    <a:pt x="3090323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02190"/>
                  </a:lnTo>
                  <a:cubicBezTo>
                    <a:pt x="0" y="1630329"/>
                    <a:pt x="10372" y="1657481"/>
                    <a:pt x="29133" y="1678453"/>
                  </a:cubicBezTo>
                  <a:lnTo>
                    <a:pt x="248999" y="1924236"/>
                  </a:lnTo>
                  <a:cubicBezTo>
                    <a:pt x="270698" y="1948493"/>
                    <a:pt x="301704" y="1962357"/>
                    <a:pt x="334250" y="1962357"/>
                  </a:cubicBezTo>
                  <a:lnTo>
                    <a:pt x="587615" y="1962357"/>
                  </a:lnTo>
                  <a:cubicBezTo>
                    <a:pt x="620162" y="1962358"/>
                    <a:pt x="651168" y="1976223"/>
                    <a:pt x="672868" y="2000480"/>
                  </a:cubicBezTo>
                  <a:lnTo>
                    <a:pt x="828844" y="2174842"/>
                  </a:lnTo>
                  <a:cubicBezTo>
                    <a:pt x="850543" y="2199099"/>
                    <a:pt x="881549" y="2212964"/>
                    <a:pt x="914095" y="2212964"/>
                  </a:cubicBezTo>
                  <a:lnTo>
                    <a:pt x="4093263" y="2212964"/>
                  </a:lnTo>
                  <a:cubicBezTo>
                    <a:pt x="4123599" y="2212964"/>
                    <a:pt x="4152693" y="2200913"/>
                    <a:pt x="4174145" y="2179462"/>
                  </a:cubicBezTo>
                  <a:cubicBezTo>
                    <a:pt x="4195596" y="2158011"/>
                    <a:pt x="4207647" y="2128917"/>
                    <a:pt x="4207647" y="2098580"/>
                  </a:cubicBezTo>
                  <a:lnTo>
                    <a:pt x="4207647" y="1962357"/>
                  </a:lnTo>
                  <a:lnTo>
                    <a:pt x="4207647" y="567445"/>
                  </a:lnTo>
                  <a:cubicBezTo>
                    <a:pt x="4207647" y="524794"/>
                    <a:pt x="4191926" y="483639"/>
                    <a:pt x="4163490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188" r="0" b="-4188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153" y="463654"/>
            <a:ext cx="7569464" cy="321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23"/>
              </a:lnSpc>
            </a:pPr>
            <a:r>
              <a:rPr lang="en-US" b="true" sz="12323" spc="-86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INSIGHTS FROM DATA</a:t>
            </a:r>
          </a:p>
        </p:txBody>
      </p:sp>
      <p:grpSp>
        <p:nvGrpSpPr>
          <p:cNvPr name="Group 3" id="3"/>
          <p:cNvGrpSpPr/>
          <p:nvPr/>
        </p:nvGrpSpPr>
        <p:grpSpPr>
          <a:xfrm rot="-8100000">
            <a:off x="9731771" y="4291263"/>
            <a:ext cx="5222954" cy="1315500"/>
            <a:chOff x="0" y="0"/>
            <a:chExt cx="805399" cy="20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726" y="0"/>
              <a:ext cx="761948" cy="202855"/>
            </a:xfrm>
            <a:custGeom>
              <a:avLst/>
              <a:gdLst/>
              <a:ahLst/>
              <a:cxnLst/>
              <a:rect r="r" b="b" t="t" l="l"/>
              <a:pathLst>
                <a:path h="202855" w="761948">
                  <a:moveTo>
                    <a:pt x="218531" y="0"/>
                  </a:moveTo>
                  <a:lnTo>
                    <a:pt x="543416" y="0"/>
                  </a:lnTo>
                  <a:cubicBezTo>
                    <a:pt x="567146" y="0"/>
                    <a:pt x="589905" y="9416"/>
                    <a:pt x="606699" y="26181"/>
                  </a:cubicBezTo>
                  <a:lnTo>
                    <a:pt x="757448" y="176674"/>
                  </a:lnTo>
                  <a:cubicBezTo>
                    <a:pt x="761838" y="181057"/>
                    <a:pt x="763154" y="187653"/>
                    <a:pt x="760783" y="193385"/>
                  </a:cubicBezTo>
                  <a:cubicBezTo>
                    <a:pt x="758411" y="199117"/>
                    <a:pt x="752819" y="202855"/>
                    <a:pt x="746616" y="202855"/>
                  </a:cubicBezTo>
                  <a:lnTo>
                    <a:pt x="15331" y="202855"/>
                  </a:lnTo>
                  <a:cubicBezTo>
                    <a:pt x="9128" y="202855"/>
                    <a:pt x="3536" y="199117"/>
                    <a:pt x="1165" y="193385"/>
                  </a:cubicBezTo>
                  <a:cubicBezTo>
                    <a:pt x="-1207" y="187653"/>
                    <a:pt x="110" y="181057"/>
                    <a:pt x="4500" y="176674"/>
                  </a:cubicBezTo>
                  <a:lnTo>
                    <a:pt x="155248" y="26181"/>
                  </a:lnTo>
                  <a:cubicBezTo>
                    <a:pt x="172042" y="9416"/>
                    <a:pt x="194802" y="0"/>
                    <a:pt x="218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47625"/>
              <a:ext cx="551399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1153" y="4267517"/>
            <a:ext cx="9484171" cy="4284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Th</a:t>
            </a: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e Retention &amp; Attrition Challenge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Historical Surge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Attrition has steadily climbed from ~5% in 2018 to a peak of 23.87% in 2024.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Why People Leave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The primary driver is Voluntary: Better Offer, closely followed by Low Engagement.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Demographic Flight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The 51+ age band exhibits the highest turnover at 26.20%, posing a critical risk of senior knowledge loss.</a:t>
            </a: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428571" y="2637320"/>
            <a:ext cx="6452740" cy="3393744"/>
            <a:chOff x="0" y="0"/>
            <a:chExt cx="4207648" cy="221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7647" cy="2212964"/>
            </a:xfrm>
            <a:custGeom>
              <a:avLst/>
              <a:gdLst/>
              <a:ahLst/>
              <a:cxnLst/>
              <a:rect r="r" b="b" t="t" l="l"/>
              <a:pathLst>
                <a:path h="2212964" w="4207647">
                  <a:moveTo>
                    <a:pt x="3793385" y="38122"/>
                  </a:moveTo>
                  <a:cubicBezTo>
                    <a:pt x="3771686" y="13865"/>
                    <a:pt x="3740680" y="0"/>
                    <a:pt x="3090323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02190"/>
                  </a:lnTo>
                  <a:cubicBezTo>
                    <a:pt x="0" y="1630329"/>
                    <a:pt x="10372" y="1657481"/>
                    <a:pt x="29133" y="1678453"/>
                  </a:cubicBezTo>
                  <a:lnTo>
                    <a:pt x="248999" y="1924236"/>
                  </a:lnTo>
                  <a:cubicBezTo>
                    <a:pt x="270698" y="1948493"/>
                    <a:pt x="301704" y="1962357"/>
                    <a:pt x="334250" y="1962357"/>
                  </a:cubicBezTo>
                  <a:lnTo>
                    <a:pt x="587615" y="1962357"/>
                  </a:lnTo>
                  <a:cubicBezTo>
                    <a:pt x="620162" y="1962358"/>
                    <a:pt x="651168" y="1976223"/>
                    <a:pt x="672868" y="2000480"/>
                  </a:cubicBezTo>
                  <a:lnTo>
                    <a:pt x="828844" y="2174842"/>
                  </a:lnTo>
                  <a:cubicBezTo>
                    <a:pt x="850543" y="2199099"/>
                    <a:pt x="881549" y="2212964"/>
                    <a:pt x="914095" y="2212964"/>
                  </a:cubicBezTo>
                  <a:lnTo>
                    <a:pt x="4093263" y="2212964"/>
                  </a:lnTo>
                  <a:cubicBezTo>
                    <a:pt x="4123599" y="2212964"/>
                    <a:pt x="4152693" y="2200913"/>
                    <a:pt x="4174145" y="2179462"/>
                  </a:cubicBezTo>
                  <a:cubicBezTo>
                    <a:pt x="4195596" y="2158011"/>
                    <a:pt x="4207647" y="2128917"/>
                    <a:pt x="4207647" y="2098580"/>
                  </a:cubicBezTo>
                  <a:lnTo>
                    <a:pt x="4207647" y="1962357"/>
                  </a:lnTo>
                  <a:lnTo>
                    <a:pt x="4207647" y="567445"/>
                  </a:lnTo>
                  <a:cubicBezTo>
                    <a:pt x="4207647" y="524794"/>
                    <a:pt x="4191926" y="483639"/>
                    <a:pt x="4163490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188" r="0" b="-4188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153" y="463654"/>
            <a:ext cx="7569464" cy="321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23"/>
              </a:lnSpc>
            </a:pPr>
            <a:r>
              <a:rPr lang="en-US" b="true" sz="12323" spc="-86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INSIGHTS FROM DATA</a:t>
            </a:r>
          </a:p>
        </p:txBody>
      </p:sp>
      <p:grpSp>
        <p:nvGrpSpPr>
          <p:cNvPr name="Group 3" id="3"/>
          <p:cNvGrpSpPr/>
          <p:nvPr/>
        </p:nvGrpSpPr>
        <p:grpSpPr>
          <a:xfrm rot="-8100000">
            <a:off x="9731771" y="4291263"/>
            <a:ext cx="5222954" cy="1315500"/>
            <a:chOff x="0" y="0"/>
            <a:chExt cx="805399" cy="20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726" y="0"/>
              <a:ext cx="761948" cy="202855"/>
            </a:xfrm>
            <a:custGeom>
              <a:avLst/>
              <a:gdLst/>
              <a:ahLst/>
              <a:cxnLst/>
              <a:rect r="r" b="b" t="t" l="l"/>
              <a:pathLst>
                <a:path h="202855" w="761948">
                  <a:moveTo>
                    <a:pt x="218531" y="0"/>
                  </a:moveTo>
                  <a:lnTo>
                    <a:pt x="543416" y="0"/>
                  </a:lnTo>
                  <a:cubicBezTo>
                    <a:pt x="567146" y="0"/>
                    <a:pt x="589905" y="9416"/>
                    <a:pt x="606699" y="26181"/>
                  </a:cubicBezTo>
                  <a:lnTo>
                    <a:pt x="757448" y="176674"/>
                  </a:lnTo>
                  <a:cubicBezTo>
                    <a:pt x="761838" y="181057"/>
                    <a:pt x="763154" y="187653"/>
                    <a:pt x="760783" y="193385"/>
                  </a:cubicBezTo>
                  <a:cubicBezTo>
                    <a:pt x="758411" y="199117"/>
                    <a:pt x="752819" y="202855"/>
                    <a:pt x="746616" y="202855"/>
                  </a:cubicBezTo>
                  <a:lnTo>
                    <a:pt x="15331" y="202855"/>
                  </a:lnTo>
                  <a:cubicBezTo>
                    <a:pt x="9128" y="202855"/>
                    <a:pt x="3536" y="199117"/>
                    <a:pt x="1165" y="193385"/>
                  </a:cubicBezTo>
                  <a:cubicBezTo>
                    <a:pt x="-1207" y="187653"/>
                    <a:pt x="110" y="181057"/>
                    <a:pt x="4500" y="176674"/>
                  </a:cubicBezTo>
                  <a:lnTo>
                    <a:pt x="155248" y="26181"/>
                  </a:lnTo>
                  <a:cubicBezTo>
                    <a:pt x="172042" y="9416"/>
                    <a:pt x="194802" y="0"/>
                    <a:pt x="218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47625"/>
              <a:ext cx="551399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1153" y="4267517"/>
            <a:ext cx="9484171" cy="523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Comp</a:t>
            </a: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ensation &amp; Cost Visuals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The Cost of Pay Disparity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Attrition skyrockets to 32.71% for employees paid Below Market, compared to 19.76% for those paid above market.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Department Hotspot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Engineering consumes the largest salary share ($0.34bn) but houses the highest risk volume, with 84 underpaid, high-risk employees.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High Recruitment Costs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The organization spends an average of $73.67K per hire, heavily driven by premium external sourcing channels like LinkedIn and Job Boards.</a:t>
            </a: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428571" y="2637320"/>
            <a:ext cx="6452740" cy="3393744"/>
            <a:chOff x="0" y="0"/>
            <a:chExt cx="4207648" cy="221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7647" cy="2212964"/>
            </a:xfrm>
            <a:custGeom>
              <a:avLst/>
              <a:gdLst/>
              <a:ahLst/>
              <a:cxnLst/>
              <a:rect r="r" b="b" t="t" l="l"/>
              <a:pathLst>
                <a:path h="2212964" w="4207647">
                  <a:moveTo>
                    <a:pt x="3793385" y="38122"/>
                  </a:moveTo>
                  <a:cubicBezTo>
                    <a:pt x="3771686" y="13865"/>
                    <a:pt x="3740680" y="0"/>
                    <a:pt x="3090323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02190"/>
                  </a:lnTo>
                  <a:cubicBezTo>
                    <a:pt x="0" y="1630329"/>
                    <a:pt x="10372" y="1657481"/>
                    <a:pt x="29133" y="1678453"/>
                  </a:cubicBezTo>
                  <a:lnTo>
                    <a:pt x="248999" y="1924236"/>
                  </a:lnTo>
                  <a:cubicBezTo>
                    <a:pt x="270698" y="1948493"/>
                    <a:pt x="301704" y="1962357"/>
                    <a:pt x="334250" y="1962357"/>
                  </a:cubicBezTo>
                  <a:lnTo>
                    <a:pt x="587615" y="1962357"/>
                  </a:lnTo>
                  <a:cubicBezTo>
                    <a:pt x="620162" y="1962358"/>
                    <a:pt x="651168" y="1976223"/>
                    <a:pt x="672868" y="2000480"/>
                  </a:cubicBezTo>
                  <a:lnTo>
                    <a:pt x="828844" y="2174842"/>
                  </a:lnTo>
                  <a:cubicBezTo>
                    <a:pt x="850543" y="2199099"/>
                    <a:pt x="881549" y="2212964"/>
                    <a:pt x="914095" y="2212964"/>
                  </a:cubicBezTo>
                  <a:lnTo>
                    <a:pt x="4093263" y="2212964"/>
                  </a:lnTo>
                  <a:cubicBezTo>
                    <a:pt x="4123599" y="2212964"/>
                    <a:pt x="4152693" y="2200913"/>
                    <a:pt x="4174145" y="2179462"/>
                  </a:cubicBezTo>
                  <a:cubicBezTo>
                    <a:pt x="4195596" y="2158011"/>
                    <a:pt x="4207647" y="2128917"/>
                    <a:pt x="4207647" y="2098580"/>
                  </a:cubicBezTo>
                  <a:lnTo>
                    <a:pt x="4207647" y="1962357"/>
                  </a:lnTo>
                  <a:lnTo>
                    <a:pt x="4207647" y="567445"/>
                  </a:lnTo>
                  <a:cubicBezTo>
                    <a:pt x="4207647" y="524794"/>
                    <a:pt x="4191926" y="483639"/>
                    <a:pt x="4163490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188" r="0" b="-4188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1153" y="463654"/>
            <a:ext cx="7569464" cy="3214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323"/>
              </a:lnSpc>
            </a:pPr>
            <a:r>
              <a:rPr lang="en-US" b="true" sz="12323" spc="-862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INSIGHTS FROM DATA</a:t>
            </a:r>
          </a:p>
        </p:txBody>
      </p:sp>
      <p:grpSp>
        <p:nvGrpSpPr>
          <p:cNvPr name="Group 3" id="3"/>
          <p:cNvGrpSpPr/>
          <p:nvPr/>
        </p:nvGrpSpPr>
        <p:grpSpPr>
          <a:xfrm rot="-8100000">
            <a:off x="9731771" y="4291263"/>
            <a:ext cx="5222954" cy="1315500"/>
            <a:chOff x="0" y="0"/>
            <a:chExt cx="805399" cy="20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1726" y="0"/>
              <a:ext cx="761948" cy="202855"/>
            </a:xfrm>
            <a:custGeom>
              <a:avLst/>
              <a:gdLst/>
              <a:ahLst/>
              <a:cxnLst/>
              <a:rect r="r" b="b" t="t" l="l"/>
              <a:pathLst>
                <a:path h="202855" w="761948">
                  <a:moveTo>
                    <a:pt x="218531" y="0"/>
                  </a:moveTo>
                  <a:lnTo>
                    <a:pt x="543416" y="0"/>
                  </a:lnTo>
                  <a:cubicBezTo>
                    <a:pt x="567146" y="0"/>
                    <a:pt x="589905" y="9416"/>
                    <a:pt x="606699" y="26181"/>
                  </a:cubicBezTo>
                  <a:lnTo>
                    <a:pt x="757448" y="176674"/>
                  </a:lnTo>
                  <a:cubicBezTo>
                    <a:pt x="761838" y="181057"/>
                    <a:pt x="763154" y="187653"/>
                    <a:pt x="760783" y="193385"/>
                  </a:cubicBezTo>
                  <a:cubicBezTo>
                    <a:pt x="758411" y="199117"/>
                    <a:pt x="752819" y="202855"/>
                    <a:pt x="746616" y="202855"/>
                  </a:cubicBezTo>
                  <a:lnTo>
                    <a:pt x="15331" y="202855"/>
                  </a:lnTo>
                  <a:cubicBezTo>
                    <a:pt x="9128" y="202855"/>
                    <a:pt x="3536" y="199117"/>
                    <a:pt x="1165" y="193385"/>
                  </a:cubicBezTo>
                  <a:cubicBezTo>
                    <a:pt x="-1207" y="187653"/>
                    <a:pt x="110" y="181057"/>
                    <a:pt x="4500" y="176674"/>
                  </a:cubicBezTo>
                  <a:lnTo>
                    <a:pt x="155248" y="26181"/>
                  </a:lnTo>
                  <a:cubicBezTo>
                    <a:pt x="172042" y="9416"/>
                    <a:pt x="194802" y="0"/>
                    <a:pt x="218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47625"/>
              <a:ext cx="551399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1153" y="4267517"/>
            <a:ext cx="9484171" cy="5236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Cr</a:t>
            </a: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itical Talent Risk (Immediate Action Required)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The Core Target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346 employees are currently flagged as High Risk &amp; Below Market.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The Urgent 8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8 High-Potential, High-Risk individuals are on the verge of leaving.</a:t>
            </a:r>
          </a:p>
          <a:p>
            <a:pPr algn="l" marL="582925" indent="-291463" lvl="1">
              <a:lnSpc>
                <a:spcPts val="3779"/>
              </a:lnSpc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Departmental Breakdown of Critical IDs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Engineering: EMP_019330, EMP_020885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Finance: EMP_018219, EMP_024696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Product: EMP_009713, EMP_020039</a:t>
            </a:r>
          </a:p>
          <a:p>
            <a:pPr algn="l" marL="1165850" indent="-388617" lvl="2">
              <a:lnSpc>
                <a:spcPts val="3779"/>
              </a:lnSpc>
              <a:buFont typeface="Arial"/>
              <a:buChar char="⚬"/>
            </a:pP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HR / Operations: EMP_022164 / EMP_021106</a:t>
            </a:r>
          </a:p>
          <a:p>
            <a:pPr algn="l">
              <a:lnSpc>
                <a:spcPts val="37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1428571" y="2637320"/>
            <a:ext cx="6452740" cy="3393744"/>
            <a:chOff x="0" y="0"/>
            <a:chExt cx="4207648" cy="22129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7647" cy="2212964"/>
            </a:xfrm>
            <a:custGeom>
              <a:avLst/>
              <a:gdLst/>
              <a:ahLst/>
              <a:cxnLst/>
              <a:rect r="r" b="b" t="t" l="l"/>
              <a:pathLst>
                <a:path h="2212964" w="4207647">
                  <a:moveTo>
                    <a:pt x="3793385" y="38122"/>
                  </a:moveTo>
                  <a:cubicBezTo>
                    <a:pt x="3771686" y="13865"/>
                    <a:pt x="3740680" y="0"/>
                    <a:pt x="3090323" y="0"/>
                  </a:cubicBezTo>
                  <a:lnTo>
                    <a:pt x="528968" y="0"/>
                  </a:lnTo>
                  <a:cubicBezTo>
                    <a:pt x="465795" y="0"/>
                    <a:pt x="414584" y="51211"/>
                    <a:pt x="414584" y="114384"/>
                  </a:cubicBezTo>
                  <a:lnTo>
                    <a:pt x="414584" y="386829"/>
                  </a:lnTo>
                  <a:cubicBezTo>
                    <a:pt x="414584" y="417166"/>
                    <a:pt x="402533" y="446260"/>
                    <a:pt x="381081" y="467712"/>
                  </a:cubicBezTo>
                  <a:cubicBezTo>
                    <a:pt x="359630" y="489163"/>
                    <a:pt x="330536" y="501214"/>
                    <a:pt x="300199" y="501214"/>
                  </a:cubicBezTo>
                  <a:lnTo>
                    <a:pt x="114384" y="501214"/>
                  </a:lnTo>
                  <a:cubicBezTo>
                    <a:pt x="84047" y="501214"/>
                    <a:pt x="54953" y="513266"/>
                    <a:pt x="33502" y="534717"/>
                  </a:cubicBezTo>
                  <a:cubicBezTo>
                    <a:pt x="12051" y="556168"/>
                    <a:pt x="0" y="585262"/>
                    <a:pt x="0" y="615598"/>
                  </a:cubicBezTo>
                  <a:lnTo>
                    <a:pt x="0" y="1602190"/>
                  </a:lnTo>
                  <a:cubicBezTo>
                    <a:pt x="0" y="1630329"/>
                    <a:pt x="10372" y="1657481"/>
                    <a:pt x="29133" y="1678453"/>
                  </a:cubicBezTo>
                  <a:lnTo>
                    <a:pt x="248999" y="1924236"/>
                  </a:lnTo>
                  <a:cubicBezTo>
                    <a:pt x="270698" y="1948493"/>
                    <a:pt x="301704" y="1962357"/>
                    <a:pt x="334250" y="1962357"/>
                  </a:cubicBezTo>
                  <a:lnTo>
                    <a:pt x="587615" y="1962357"/>
                  </a:lnTo>
                  <a:cubicBezTo>
                    <a:pt x="620162" y="1962358"/>
                    <a:pt x="651168" y="1976223"/>
                    <a:pt x="672868" y="2000480"/>
                  </a:cubicBezTo>
                  <a:lnTo>
                    <a:pt x="828844" y="2174842"/>
                  </a:lnTo>
                  <a:cubicBezTo>
                    <a:pt x="850543" y="2199099"/>
                    <a:pt x="881549" y="2212964"/>
                    <a:pt x="914095" y="2212964"/>
                  </a:cubicBezTo>
                  <a:lnTo>
                    <a:pt x="4093263" y="2212964"/>
                  </a:lnTo>
                  <a:cubicBezTo>
                    <a:pt x="4123599" y="2212964"/>
                    <a:pt x="4152693" y="2200913"/>
                    <a:pt x="4174145" y="2179462"/>
                  </a:cubicBezTo>
                  <a:cubicBezTo>
                    <a:pt x="4195596" y="2158011"/>
                    <a:pt x="4207647" y="2128917"/>
                    <a:pt x="4207647" y="2098580"/>
                  </a:cubicBezTo>
                  <a:lnTo>
                    <a:pt x="4207647" y="1962357"/>
                  </a:lnTo>
                  <a:lnTo>
                    <a:pt x="4207647" y="567445"/>
                  </a:lnTo>
                  <a:cubicBezTo>
                    <a:pt x="4207647" y="524794"/>
                    <a:pt x="4191926" y="483639"/>
                    <a:pt x="4163490" y="451851"/>
                  </a:cubicBezTo>
                  <a:close/>
                </a:path>
              </a:pathLst>
            </a:custGeom>
            <a:blipFill>
              <a:blip r:embed="rId2"/>
              <a:stretch>
                <a:fillRect l="0" t="-4188" r="0" b="-4188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25590"/>
            <a:ext cx="10014676" cy="403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58"/>
              </a:lnSpc>
            </a:pPr>
            <a:r>
              <a:rPr lang="en-US" b="true" sz="15558" spc="-1089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TOOLS &amp; TECHNOLOGIES</a:t>
            </a:r>
          </a:p>
        </p:txBody>
      </p:sp>
      <p:grpSp>
        <p:nvGrpSpPr>
          <p:cNvPr name="Group 3" id="3"/>
          <p:cNvGrpSpPr/>
          <p:nvPr/>
        </p:nvGrpSpPr>
        <p:grpSpPr>
          <a:xfrm rot="8100000">
            <a:off x="11112279" y="6334104"/>
            <a:ext cx="7744733" cy="1315500"/>
            <a:chOff x="0" y="0"/>
            <a:chExt cx="1194267" cy="202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651" y="0"/>
              <a:ext cx="1164964" cy="202855"/>
            </a:xfrm>
            <a:custGeom>
              <a:avLst/>
              <a:gdLst/>
              <a:ahLst/>
              <a:cxnLst/>
              <a:rect r="r" b="b" t="t" l="l"/>
              <a:pathLst>
                <a:path h="202855" w="1164964">
                  <a:moveTo>
                    <a:pt x="213540" y="0"/>
                  </a:moveTo>
                  <a:lnTo>
                    <a:pt x="951425" y="0"/>
                  </a:lnTo>
                  <a:cubicBezTo>
                    <a:pt x="967428" y="0"/>
                    <a:pt x="982777" y="6350"/>
                    <a:pt x="994102" y="17656"/>
                  </a:cubicBezTo>
                  <a:lnTo>
                    <a:pt x="1161930" y="185199"/>
                  </a:lnTo>
                  <a:cubicBezTo>
                    <a:pt x="1164890" y="188155"/>
                    <a:pt x="1165778" y="192603"/>
                    <a:pt x="1164179" y="196469"/>
                  </a:cubicBezTo>
                  <a:cubicBezTo>
                    <a:pt x="1162580" y="200334"/>
                    <a:pt x="1158809" y="202855"/>
                    <a:pt x="1154625" y="202855"/>
                  </a:cubicBezTo>
                  <a:lnTo>
                    <a:pt x="10340" y="202855"/>
                  </a:lnTo>
                  <a:cubicBezTo>
                    <a:pt x="6157" y="202855"/>
                    <a:pt x="2385" y="200334"/>
                    <a:pt x="786" y="196469"/>
                  </a:cubicBezTo>
                  <a:cubicBezTo>
                    <a:pt x="-813" y="192603"/>
                    <a:pt x="75" y="188155"/>
                    <a:pt x="3035" y="185199"/>
                  </a:cubicBezTo>
                  <a:lnTo>
                    <a:pt x="170863" y="17656"/>
                  </a:lnTo>
                  <a:cubicBezTo>
                    <a:pt x="182188" y="6350"/>
                    <a:pt x="197537" y="0"/>
                    <a:pt x="21354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127000" y="-47625"/>
              <a:ext cx="940267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00482" y="5563308"/>
            <a:ext cx="5810900" cy="2857092"/>
            <a:chOff x="0" y="0"/>
            <a:chExt cx="2066919" cy="10162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6923" cy="1016255"/>
            </a:xfrm>
            <a:custGeom>
              <a:avLst/>
              <a:gdLst/>
              <a:ahLst/>
              <a:cxnLst/>
              <a:rect r="r" b="b" t="t" l="l"/>
              <a:pathLst>
                <a:path h="1016255" w="2066923">
                  <a:moveTo>
                    <a:pt x="0" y="110688"/>
                  </a:moveTo>
                  <a:lnTo>
                    <a:pt x="0" y="759882"/>
                  </a:lnTo>
                  <a:cubicBezTo>
                    <a:pt x="2" y="786179"/>
                    <a:pt x="9367" y="811616"/>
                    <a:pt x="26416" y="831638"/>
                  </a:cubicBezTo>
                  <a:lnTo>
                    <a:pt x="150468" y="977327"/>
                  </a:lnTo>
                  <a:cubicBezTo>
                    <a:pt x="171499" y="1002025"/>
                    <a:pt x="202305" y="1016255"/>
                    <a:pt x="234744" y="1016255"/>
                  </a:cubicBezTo>
                  <a:lnTo>
                    <a:pt x="1832179" y="1016255"/>
                  </a:lnTo>
                  <a:cubicBezTo>
                    <a:pt x="1864618" y="1016256"/>
                    <a:pt x="1895424" y="1002026"/>
                    <a:pt x="1916455" y="977327"/>
                  </a:cubicBezTo>
                  <a:lnTo>
                    <a:pt x="2040507" y="831638"/>
                  </a:lnTo>
                  <a:cubicBezTo>
                    <a:pt x="2057556" y="811616"/>
                    <a:pt x="2066921" y="786179"/>
                    <a:pt x="2066923" y="759882"/>
                  </a:cubicBezTo>
                  <a:lnTo>
                    <a:pt x="2066923" y="110688"/>
                  </a:lnTo>
                  <a:cubicBezTo>
                    <a:pt x="2066923" y="81331"/>
                    <a:pt x="2055261" y="53177"/>
                    <a:pt x="2034502" y="32418"/>
                  </a:cubicBezTo>
                  <a:cubicBezTo>
                    <a:pt x="2013743" y="11660"/>
                    <a:pt x="1985588" y="-1"/>
                    <a:pt x="1956231" y="0"/>
                  </a:cubicBezTo>
                  <a:lnTo>
                    <a:pt x="110688" y="0"/>
                  </a:lnTo>
                  <a:cubicBezTo>
                    <a:pt x="49557" y="0"/>
                    <a:pt x="0" y="49557"/>
                    <a:pt x="0" y="110688"/>
                  </a:cubicBezTo>
                  <a:close/>
                </a:path>
              </a:pathLst>
            </a:custGeom>
            <a:blipFill>
              <a:blip r:embed="rId2"/>
              <a:stretch>
                <a:fillRect l="0" t="-7965" r="0" b="-7965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194704" y="5894368"/>
            <a:ext cx="3543485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3399">
                <a:solidFill>
                  <a:srgbClr val="303030"/>
                </a:solidFill>
                <a:latin typeface="Inter Bold"/>
                <a:ea typeface="Inter Bold"/>
                <a:cs typeface="Inter Bold"/>
                <a:sym typeface="Inter Bold"/>
              </a:rPr>
              <a:t>Teck Stack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0262" y="5947074"/>
            <a:ext cx="3668735" cy="30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</a:pPr>
          </a:p>
          <a:p>
            <a:pPr algn="l" marL="928353" indent="-464177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 Excel</a:t>
            </a:r>
          </a:p>
          <a:p>
            <a:pPr algn="l" marL="928353" indent="-464177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Power BI</a:t>
            </a:r>
          </a:p>
          <a:p>
            <a:pPr algn="l" marL="928353" indent="-464177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303030"/>
                </a:solidFill>
                <a:latin typeface="Inter"/>
                <a:ea typeface="Inter"/>
                <a:cs typeface="Inter"/>
                <a:sym typeface="Inter"/>
              </a:rPr>
              <a:t> DAX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5373913" y="7838911"/>
            <a:ext cx="3456217" cy="1315500"/>
            <a:chOff x="0" y="0"/>
            <a:chExt cx="53296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831" y="0"/>
              <a:ext cx="467299" cy="202855"/>
            </a:xfrm>
            <a:custGeom>
              <a:avLst/>
              <a:gdLst/>
              <a:ahLst/>
              <a:cxnLst/>
              <a:rect r="r" b="b" t="t" l="l"/>
              <a:pathLst>
                <a:path h="202855" w="467299">
                  <a:moveTo>
                    <a:pt x="226369" y="0"/>
                  </a:moveTo>
                  <a:lnTo>
                    <a:pt x="240931" y="0"/>
                  </a:lnTo>
                  <a:cubicBezTo>
                    <a:pt x="276790" y="0"/>
                    <a:pt x="311184" y="14229"/>
                    <a:pt x="336562" y="39564"/>
                  </a:cubicBezTo>
                  <a:lnTo>
                    <a:pt x="460499" y="163291"/>
                  </a:lnTo>
                  <a:cubicBezTo>
                    <a:pt x="467133" y="169914"/>
                    <a:pt x="469123" y="179882"/>
                    <a:pt x="465539" y="188544"/>
                  </a:cubicBezTo>
                  <a:cubicBezTo>
                    <a:pt x="461955" y="197206"/>
                    <a:pt x="453505" y="202855"/>
                    <a:pt x="444131" y="202855"/>
                  </a:cubicBezTo>
                  <a:lnTo>
                    <a:pt x="23169" y="202855"/>
                  </a:lnTo>
                  <a:cubicBezTo>
                    <a:pt x="13795" y="202855"/>
                    <a:pt x="5344" y="197206"/>
                    <a:pt x="1761" y="188544"/>
                  </a:cubicBezTo>
                  <a:cubicBezTo>
                    <a:pt x="-1823" y="179882"/>
                    <a:pt x="166" y="169914"/>
                    <a:pt x="6801" y="163291"/>
                  </a:cubicBezTo>
                  <a:lnTo>
                    <a:pt x="130737" y="39564"/>
                  </a:lnTo>
                  <a:cubicBezTo>
                    <a:pt x="156115" y="14229"/>
                    <a:pt x="190510" y="0"/>
                    <a:pt x="2263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27896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46874" y="625155"/>
            <a:ext cx="9308862" cy="129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21"/>
              </a:lnSpc>
            </a:pPr>
            <a:r>
              <a:rPr lang="en-US" b="true" sz="9821" spc="-6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HR RECOMMENDATIONS</a:t>
            </a:r>
          </a:p>
        </p:txBody>
      </p:sp>
      <p:grpSp>
        <p:nvGrpSpPr>
          <p:cNvPr name="Group 6" id="6"/>
          <p:cNvGrpSpPr/>
          <p:nvPr/>
        </p:nvGrpSpPr>
        <p:grpSpPr>
          <a:xfrm rot="8100000">
            <a:off x="-89242" y="5577379"/>
            <a:ext cx="9856701" cy="1315500"/>
            <a:chOff x="0" y="0"/>
            <a:chExt cx="1519941" cy="202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512" y="0"/>
              <a:ext cx="1496916" cy="202855"/>
            </a:xfrm>
            <a:custGeom>
              <a:avLst/>
              <a:gdLst/>
              <a:ahLst/>
              <a:cxnLst/>
              <a:rect r="r" b="b" t="t" l="l"/>
              <a:pathLst>
                <a:path h="202855" w="1496916">
                  <a:moveTo>
                    <a:pt x="211324" y="0"/>
                  </a:moveTo>
                  <a:lnTo>
                    <a:pt x="1285592" y="0"/>
                  </a:lnTo>
                  <a:cubicBezTo>
                    <a:pt x="1298166" y="0"/>
                    <a:pt x="1310227" y="4989"/>
                    <a:pt x="1319125" y="13873"/>
                  </a:cubicBezTo>
                  <a:lnTo>
                    <a:pt x="1494532" y="188982"/>
                  </a:lnTo>
                  <a:cubicBezTo>
                    <a:pt x="1496858" y="191304"/>
                    <a:pt x="1497556" y="194800"/>
                    <a:pt x="1496299" y="197837"/>
                  </a:cubicBezTo>
                  <a:cubicBezTo>
                    <a:pt x="1495043" y="200874"/>
                    <a:pt x="1492079" y="202855"/>
                    <a:pt x="1488792" y="202855"/>
                  </a:cubicBezTo>
                  <a:lnTo>
                    <a:pt x="8124" y="202855"/>
                  </a:lnTo>
                  <a:cubicBezTo>
                    <a:pt x="4837" y="202855"/>
                    <a:pt x="1874" y="200874"/>
                    <a:pt x="617" y="197837"/>
                  </a:cubicBezTo>
                  <a:cubicBezTo>
                    <a:pt x="-639" y="194800"/>
                    <a:pt x="58" y="191304"/>
                    <a:pt x="2385" y="188982"/>
                  </a:cubicBezTo>
                  <a:lnTo>
                    <a:pt x="177791" y="13873"/>
                  </a:lnTo>
                  <a:cubicBezTo>
                    <a:pt x="186690" y="4989"/>
                    <a:pt x="198750" y="0"/>
                    <a:pt x="2113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47625"/>
              <a:ext cx="126594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057900" cy="8229600"/>
            <a:chOff x="0" y="0"/>
            <a:chExt cx="1381939" cy="187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1939" cy="1877351"/>
            </a:xfrm>
            <a:custGeom>
              <a:avLst/>
              <a:gdLst/>
              <a:ahLst/>
              <a:cxnLst/>
              <a:rect r="r" b="b" t="t" l="l"/>
              <a:pathLst>
                <a:path h="1877351" w="1381939">
                  <a:moveTo>
                    <a:pt x="0" y="124380"/>
                  </a:moveTo>
                  <a:lnTo>
                    <a:pt x="0" y="1481194"/>
                  </a:lnTo>
                  <a:cubicBezTo>
                    <a:pt x="0" y="1549887"/>
                    <a:pt x="55687" y="1605574"/>
                    <a:pt x="124380" y="1605574"/>
                  </a:cubicBezTo>
                  <a:lnTo>
                    <a:pt x="267087" y="1605574"/>
                  </a:lnTo>
                  <a:cubicBezTo>
                    <a:pt x="303063" y="1605574"/>
                    <a:pt x="337276" y="1621150"/>
                    <a:pt x="360898" y="1648284"/>
                  </a:cubicBezTo>
                  <a:lnTo>
                    <a:pt x="523133" y="1834640"/>
                  </a:lnTo>
                  <a:cubicBezTo>
                    <a:pt x="546755" y="1861774"/>
                    <a:pt x="580969" y="1877351"/>
                    <a:pt x="616944" y="1877351"/>
                  </a:cubicBezTo>
                  <a:lnTo>
                    <a:pt x="1088079" y="1877351"/>
                  </a:lnTo>
                  <a:cubicBezTo>
                    <a:pt x="1123987" y="1877351"/>
                    <a:pt x="1158143" y="1861832"/>
                    <a:pt x="1181763" y="1834786"/>
                  </a:cubicBezTo>
                  <a:lnTo>
                    <a:pt x="1340954" y="1652504"/>
                  </a:lnTo>
                  <a:cubicBezTo>
                    <a:pt x="1367377" y="1622247"/>
                    <a:pt x="1381939" y="1583437"/>
                    <a:pt x="1381939" y="154326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688" t="0" r="-6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14194" y="2783566"/>
            <a:ext cx="9671413" cy="523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1. Immediate Retention Interventions (Critical Talent)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Save the "Urgent 8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": Lock in the 8 High-Potential / High-Risk employees immediately. HR should bypass standard annual review cycles to conduct stay-interviews and offer immediate retention bonuses or fast-track promotions.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Targeted Salary Corrections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Prioritize a compensation market-alignment initiative for the 346 employees flagged as "High Risk &amp; Below Market." Focus first on Engineering (84 staff) and Sales (55 staff), where the volume of underpaid, flight-risk talent is densest.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5373913" y="7838911"/>
            <a:ext cx="3456217" cy="1315500"/>
            <a:chOff x="0" y="0"/>
            <a:chExt cx="53296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831" y="0"/>
              <a:ext cx="467299" cy="202855"/>
            </a:xfrm>
            <a:custGeom>
              <a:avLst/>
              <a:gdLst/>
              <a:ahLst/>
              <a:cxnLst/>
              <a:rect r="r" b="b" t="t" l="l"/>
              <a:pathLst>
                <a:path h="202855" w="467299">
                  <a:moveTo>
                    <a:pt x="226369" y="0"/>
                  </a:moveTo>
                  <a:lnTo>
                    <a:pt x="240931" y="0"/>
                  </a:lnTo>
                  <a:cubicBezTo>
                    <a:pt x="276790" y="0"/>
                    <a:pt x="311184" y="14229"/>
                    <a:pt x="336562" y="39564"/>
                  </a:cubicBezTo>
                  <a:lnTo>
                    <a:pt x="460499" y="163291"/>
                  </a:lnTo>
                  <a:cubicBezTo>
                    <a:pt x="467133" y="169914"/>
                    <a:pt x="469123" y="179882"/>
                    <a:pt x="465539" y="188544"/>
                  </a:cubicBezTo>
                  <a:cubicBezTo>
                    <a:pt x="461955" y="197206"/>
                    <a:pt x="453505" y="202855"/>
                    <a:pt x="444131" y="202855"/>
                  </a:cubicBezTo>
                  <a:lnTo>
                    <a:pt x="23169" y="202855"/>
                  </a:lnTo>
                  <a:cubicBezTo>
                    <a:pt x="13795" y="202855"/>
                    <a:pt x="5344" y="197206"/>
                    <a:pt x="1761" y="188544"/>
                  </a:cubicBezTo>
                  <a:cubicBezTo>
                    <a:pt x="-1823" y="179882"/>
                    <a:pt x="166" y="169914"/>
                    <a:pt x="6801" y="163291"/>
                  </a:cubicBezTo>
                  <a:lnTo>
                    <a:pt x="130737" y="39564"/>
                  </a:lnTo>
                  <a:cubicBezTo>
                    <a:pt x="156115" y="14229"/>
                    <a:pt x="190510" y="0"/>
                    <a:pt x="2263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27896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46874" y="625155"/>
            <a:ext cx="9308862" cy="129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21"/>
              </a:lnSpc>
            </a:pPr>
            <a:r>
              <a:rPr lang="en-US" b="true" sz="9821" spc="-6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HR RECOMMENDATIONS</a:t>
            </a:r>
          </a:p>
        </p:txBody>
      </p:sp>
      <p:grpSp>
        <p:nvGrpSpPr>
          <p:cNvPr name="Group 6" id="6"/>
          <p:cNvGrpSpPr/>
          <p:nvPr/>
        </p:nvGrpSpPr>
        <p:grpSpPr>
          <a:xfrm rot="8100000">
            <a:off x="-89242" y="5577379"/>
            <a:ext cx="9856701" cy="1315500"/>
            <a:chOff x="0" y="0"/>
            <a:chExt cx="1519941" cy="202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512" y="0"/>
              <a:ext cx="1496916" cy="202855"/>
            </a:xfrm>
            <a:custGeom>
              <a:avLst/>
              <a:gdLst/>
              <a:ahLst/>
              <a:cxnLst/>
              <a:rect r="r" b="b" t="t" l="l"/>
              <a:pathLst>
                <a:path h="202855" w="1496916">
                  <a:moveTo>
                    <a:pt x="211324" y="0"/>
                  </a:moveTo>
                  <a:lnTo>
                    <a:pt x="1285592" y="0"/>
                  </a:lnTo>
                  <a:cubicBezTo>
                    <a:pt x="1298166" y="0"/>
                    <a:pt x="1310227" y="4989"/>
                    <a:pt x="1319125" y="13873"/>
                  </a:cubicBezTo>
                  <a:lnTo>
                    <a:pt x="1494532" y="188982"/>
                  </a:lnTo>
                  <a:cubicBezTo>
                    <a:pt x="1496858" y="191304"/>
                    <a:pt x="1497556" y="194800"/>
                    <a:pt x="1496299" y="197837"/>
                  </a:cubicBezTo>
                  <a:cubicBezTo>
                    <a:pt x="1495043" y="200874"/>
                    <a:pt x="1492079" y="202855"/>
                    <a:pt x="1488792" y="202855"/>
                  </a:cubicBezTo>
                  <a:lnTo>
                    <a:pt x="8124" y="202855"/>
                  </a:lnTo>
                  <a:cubicBezTo>
                    <a:pt x="4837" y="202855"/>
                    <a:pt x="1874" y="200874"/>
                    <a:pt x="617" y="197837"/>
                  </a:cubicBezTo>
                  <a:cubicBezTo>
                    <a:pt x="-639" y="194800"/>
                    <a:pt x="58" y="191304"/>
                    <a:pt x="2385" y="188982"/>
                  </a:cubicBezTo>
                  <a:lnTo>
                    <a:pt x="177791" y="13873"/>
                  </a:lnTo>
                  <a:cubicBezTo>
                    <a:pt x="186690" y="4989"/>
                    <a:pt x="198750" y="0"/>
                    <a:pt x="2113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47625"/>
              <a:ext cx="126594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057900" cy="8229600"/>
            <a:chOff x="0" y="0"/>
            <a:chExt cx="1381939" cy="187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1939" cy="1877351"/>
            </a:xfrm>
            <a:custGeom>
              <a:avLst/>
              <a:gdLst/>
              <a:ahLst/>
              <a:cxnLst/>
              <a:rect r="r" b="b" t="t" l="l"/>
              <a:pathLst>
                <a:path h="1877351" w="1381939">
                  <a:moveTo>
                    <a:pt x="0" y="124380"/>
                  </a:moveTo>
                  <a:lnTo>
                    <a:pt x="0" y="1481194"/>
                  </a:lnTo>
                  <a:cubicBezTo>
                    <a:pt x="0" y="1549887"/>
                    <a:pt x="55687" y="1605574"/>
                    <a:pt x="124380" y="1605574"/>
                  </a:cubicBezTo>
                  <a:lnTo>
                    <a:pt x="267087" y="1605574"/>
                  </a:lnTo>
                  <a:cubicBezTo>
                    <a:pt x="303063" y="1605574"/>
                    <a:pt x="337276" y="1621150"/>
                    <a:pt x="360898" y="1648284"/>
                  </a:cubicBezTo>
                  <a:lnTo>
                    <a:pt x="523133" y="1834640"/>
                  </a:lnTo>
                  <a:cubicBezTo>
                    <a:pt x="546755" y="1861774"/>
                    <a:pt x="580969" y="1877351"/>
                    <a:pt x="616944" y="1877351"/>
                  </a:cubicBezTo>
                  <a:lnTo>
                    <a:pt x="1088079" y="1877351"/>
                  </a:lnTo>
                  <a:cubicBezTo>
                    <a:pt x="1123987" y="1877351"/>
                    <a:pt x="1158143" y="1861832"/>
                    <a:pt x="1181763" y="1834786"/>
                  </a:cubicBezTo>
                  <a:lnTo>
                    <a:pt x="1340954" y="1652504"/>
                  </a:lnTo>
                  <a:cubicBezTo>
                    <a:pt x="1367377" y="1622247"/>
                    <a:pt x="1381939" y="1583437"/>
                    <a:pt x="1381939" y="154326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688" t="0" r="-6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14194" y="2306955"/>
            <a:ext cx="9671413" cy="523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. Structural Compensation &amp; Recruitment Strategy</a:t>
            </a: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Shift Budget from Acquisition to Retention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The organization faces a staggering average cost per hire of $73.67K, fueled by heavy spending on LinkedIn and external Job Boards.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Optimize Sourcing Channels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Scale up lower-cost, higher-retention hiring pipelines. Expand Employee Referral Programs and Internal Transfers, which currently account for the smallest portions of the acquisition cost pie.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5373913" y="7838911"/>
            <a:ext cx="3456217" cy="1315500"/>
            <a:chOff x="0" y="0"/>
            <a:chExt cx="53296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831" y="0"/>
              <a:ext cx="467299" cy="202855"/>
            </a:xfrm>
            <a:custGeom>
              <a:avLst/>
              <a:gdLst/>
              <a:ahLst/>
              <a:cxnLst/>
              <a:rect r="r" b="b" t="t" l="l"/>
              <a:pathLst>
                <a:path h="202855" w="467299">
                  <a:moveTo>
                    <a:pt x="226369" y="0"/>
                  </a:moveTo>
                  <a:lnTo>
                    <a:pt x="240931" y="0"/>
                  </a:lnTo>
                  <a:cubicBezTo>
                    <a:pt x="276790" y="0"/>
                    <a:pt x="311184" y="14229"/>
                    <a:pt x="336562" y="39564"/>
                  </a:cubicBezTo>
                  <a:lnTo>
                    <a:pt x="460499" y="163291"/>
                  </a:lnTo>
                  <a:cubicBezTo>
                    <a:pt x="467133" y="169914"/>
                    <a:pt x="469123" y="179882"/>
                    <a:pt x="465539" y="188544"/>
                  </a:cubicBezTo>
                  <a:cubicBezTo>
                    <a:pt x="461955" y="197206"/>
                    <a:pt x="453505" y="202855"/>
                    <a:pt x="444131" y="202855"/>
                  </a:cubicBezTo>
                  <a:lnTo>
                    <a:pt x="23169" y="202855"/>
                  </a:lnTo>
                  <a:cubicBezTo>
                    <a:pt x="13795" y="202855"/>
                    <a:pt x="5344" y="197206"/>
                    <a:pt x="1761" y="188544"/>
                  </a:cubicBezTo>
                  <a:cubicBezTo>
                    <a:pt x="-1823" y="179882"/>
                    <a:pt x="166" y="169914"/>
                    <a:pt x="6801" y="163291"/>
                  </a:cubicBezTo>
                  <a:lnTo>
                    <a:pt x="130737" y="39564"/>
                  </a:lnTo>
                  <a:cubicBezTo>
                    <a:pt x="156115" y="14229"/>
                    <a:pt x="190510" y="0"/>
                    <a:pt x="2263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27896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46874" y="625155"/>
            <a:ext cx="9308862" cy="129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21"/>
              </a:lnSpc>
            </a:pPr>
            <a:r>
              <a:rPr lang="en-US" b="true" sz="9821" spc="-6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HR RECOMMENDATIONS</a:t>
            </a:r>
          </a:p>
        </p:txBody>
      </p:sp>
      <p:grpSp>
        <p:nvGrpSpPr>
          <p:cNvPr name="Group 6" id="6"/>
          <p:cNvGrpSpPr/>
          <p:nvPr/>
        </p:nvGrpSpPr>
        <p:grpSpPr>
          <a:xfrm rot="8100000">
            <a:off x="-89242" y="5577379"/>
            <a:ext cx="9856701" cy="1315500"/>
            <a:chOff x="0" y="0"/>
            <a:chExt cx="1519941" cy="202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512" y="0"/>
              <a:ext cx="1496916" cy="202855"/>
            </a:xfrm>
            <a:custGeom>
              <a:avLst/>
              <a:gdLst/>
              <a:ahLst/>
              <a:cxnLst/>
              <a:rect r="r" b="b" t="t" l="l"/>
              <a:pathLst>
                <a:path h="202855" w="1496916">
                  <a:moveTo>
                    <a:pt x="211324" y="0"/>
                  </a:moveTo>
                  <a:lnTo>
                    <a:pt x="1285592" y="0"/>
                  </a:lnTo>
                  <a:cubicBezTo>
                    <a:pt x="1298166" y="0"/>
                    <a:pt x="1310227" y="4989"/>
                    <a:pt x="1319125" y="13873"/>
                  </a:cubicBezTo>
                  <a:lnTo>
                    <a:pt x="1494532" y="188982"/>
                  </a:lnTo>
                  <a:cubicBezTo>
                    <a:pt x="1496858" y="191304"/>
                    <a:pt x="1497556" y="194800"/>
                    <a:pt x="1496299" y="197837"/>
                  </a:cubicBezTo>
                  <a:cubicBezTo>
                    <a:pt x="1495043" y="200874"/>
                    <a:pt x="1492079" y="202855"/>
                    <a:pt x="1488792" y="202855"/>
                  </a:cubicBezTo>
                  <a:lnTo>
                    <a:pt x="8124" y="202855"/>
                  </a:lnTo>
                  <a:cubicBezTo>
                    <a:pt x="4837" y="202855"/>
                    <a:pt x="1874" y="200874"/>
                    <a:pt x="617" y="197837"/>
                  </a:cubicBezTo>
                  <a:cubicBezTo>
                    <a:pt x="-639" y="194800"/>
                    <a:pt x="58" y="191304"/>
                    <a:pt x="2385" y="188982"/>
                  </a:cubicBezTo>
                  <a:lnTo>
                    <a:pt x="177791" y="13873"/>
                  </a:lnTo>
                  <a:cubicBezTo>
                    <a:pt x="186690" y="4989"/>
                    <a:pt x="198750" y="0"/>
                    <a:pt x="2113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47625"/>
              <a:ext cx="126594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057900" cy="8229600"/>
            <a:chOff x="0" y="0"/>
            <a:chExt cx="1381939" cy="187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1939" cy="1877351"/>
            </a:xfrm>
            <a:custGeom>
              <a:avLst/>
              <a:gdLst/>
              <a:ahLst/>
              <a:cxnLst/>
              <a:rect r="r" b="b" t="t" l="l"/>
              <a:pathLst>
                <a:path h="1877351" w="1381939">
                  <a:moveTo>
                    <a:pt x="0" y="124380"/>
                  </a:moveTo>
                  <a:lnTo>
                    <a:pt x="0" y="1481194"/>
                  </a:lnTo>
                  <a:cubicBezTo>
                    <a:pt x="0" y="1549887"/>
                    <a:pt x="55687" y="1605574"/>
                    <a:pt x="124380" y="1605574"/>
                  </a:cubicBezTo>
                  <a:lnTo>
                    <a:pt x="267087" y="1605574"/>
                  </a:lnTo>
                  <a:cubicBezTo>
                    <a:pt x="303063" y="1605574"/>
                    <a:pt x="337276" y="1621150"/>
                    <a:pt x="360898" y="1648284"/>
                  </a:cubicBezTo>
                  <a:lnTo>
                    <a:pt x="523133" y="1834640"/>
                  </a:lnTo>
                  <a:cubicBezTo>
                    <a:pt x="546755" y="1861774"/>
                    <a:pt x="580969" y="1877351"/>
                    <a:pt x="616944" y="1877351"/>
                  </a:cubicBezTo>
                  <a:lnTo>
                    <a:pt x="1088079" y="1877351"/>
                  </a:lnTo>
                  <a:cubicBezTo>
                    <a:pt x="1123987" y="1877351"/>
                    <a:pt x="1158143" y="1861832"/>
                    <a:pt x="1181763" y="1834786"/>
                  </a:cubicBezTo>
                  <a:lnTo>
                    <a:pt x="1340954" y="1652504"/>
                  </a:lnTo>
                  <a:cubicBezTo>
                    <a:pt x="1367377" y="1622247"/>
                    <a:pt x="1381939" y="1583437"/>
                    <a:pt x="1381939" y="154326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688" t="0" r="-6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14194" y="2306955"/>
            <a:ext cx="9671413" cy="5713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Engagemen</a:t>
            </a: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t &amp; Workforce Morale</a:t>
            </a: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Address the "Low Engagement" Exit Trigger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Because "Low Engagement" is verified as the second largest driver of voluntary resignations—and backed by a failing Pulse Score (-1.32% off target)—the company must overhaul its workplace culture.</a:t>
            </a: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Actionable Steps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Implement quarterly pulse surveys to pinpoint exact friction points, introduce flexible work arrangements where applicable, and launch structured manager-training frameworks to improve daily team environments.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5373913" y="7838911"/>
            <a:ext cx="3456217" cy="1315500"/>
            <a:chOff x="0" y="0"/>
            <a:chExt cx="53296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831" y="0"/>
              <a:ext cx="467299" cy="202855"/>
            </a:xfrm>
            <a:custGeom>
              <a:avLst/>
              <a:gdLst/>
              <a:ahLst/>
              <a:cxnLst/>
              <a:rect r="r" b="b" t="t" l="l"/>
              <a:pathLst>
                <a:path h="202855" w="467299">
                  <a:moveTo>
                    <a:pt x="226369" y="0"/>
                  </a:moveTo>
                  <a:lnTo>
                    <a:pt x="240931" y="0"/>
                  </a:lnTo>
                  <a:cubicBezTo>
                    <a:pt x="276790" y="0"/>
                    <a:pt x="311184" y="14229"/>
                    <a:pt x="336562" y="39564"/>
                  </a:cubicBezTo>
                  <a:lnTo>
                    <a:pt x="460499" y="163291"/>
                  </a:lnTo>
                  <a:cubicBezTo>
                    <a:pt x="467133" y="169914"/>
                    <a:pt x="469123" y="179882"/>
                    <a:pt x="465539" y="188544"/>
                  </a:cubicBezTo>
                  <a:cubicBezTo>
                    <a:pt x="461955" y="197206"/>
                    <a:pt x="453505" y="202855"/>
                    <a:pt x="444131" y="202855"/>
                  </a:cubicBezTo>
                  <a:lnTo>
                    <a:pt x="23169" y="202855"/>
                  </a:lnTo>
                  <a:cubicBezTo>
                    <a:pt x="13795" y="202855"/>
                    <a:pt x="5344" y="197206"/>
                    <a:pt x="1761" y="188544"/>
                  </a:cubicBezTo>
                  <a:cubicBezTo>
                    <a:pt x="-1823" y="179882"/>
                    <a:pt x="166" y="169914"/>
                    <a:pt x="6801" y="163291"/>
                  </a:cubicBezTo>
                  <a:lnTo>
                    <a:pt x="130737" y="39564"/>
                  </a:lnTo>
                  <a:cubicBezTo>
                    <a:pt x="156115" y="14229"/>
                    <a:pt x="190510" y="0"/>
                    <a:pt x="2263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27896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246874" y="625155"/>
            <a:ext cx="9308862" cy="129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21"/>
              </a:lnSpc>
            </a:pPr>
            <a:r>
              <a:rPr lang="en-US" b="true" sz="9821" spc="-687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HR RECOMMENDATIONS</a:t>
            </a:r>
          </a:p>
        </p:txBody>
      </p:sp>
      <p:grpSp>
        <p:nvGrpSpPr>
          <p:cNvPr name="Group 6" id="6"/>
          <p:cNvGrpSpPr/>
          <p:nvPr/>
        </p:nvGrpSpPr>
        <p:grpSpPr>
          <a:xfrm rot="8100000">
            <a:off x="-89242" y="5577379"/>
            <a:ext cx="9856701" cy="1315500"/>
            <a:chOff x="0" y="0"/>
            <a:chExt cx="1519941" cy="202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512" y="0"/>
              <a:ext cx="1496916" cy="202855"/>
            </a:xfrm>
            <a:custGeom>
              <a:avLst/>
              <a:gdLst/>
              <a:ahLst/>
              <a:cxnLst/>
              <a:rect r="r" b="b" t="t" l="l"/>
              <a:pathLst>
                <a:path h="202855" w="1496916">
                  <a:moveTo>
                    <a:pt x="211324" y="0"/>
                  </a:moveTo>
                  <a:lnTo>
                    <a:pt x="1285592" y="0"/>
                  </a:lnTo>
                  <a:cubicBezTo>
                    <a:pt x="1298166" y="0"/>
                    <a:pt x="1310227" y="4989"/>
                    <a:pt x="1319125" y="13873"/>
                  </a:cubicBezTo>
                  <a:lnTo>
                    <a:pt x="1494532" y="188982"/>
                  </a:lnTo>
                  <a:cubicBezTo>
                    <a:pt x="1496858" y="191304"/>
                    <a:pt x="1497556" y="194800"/>
                    <a:pt x="1496299" y="197837"/>
                  </a:cubicBezTo>
                  <a:cubicBezTo>
                    <a:pt x="1495043" y="200874"/>
                    <a:pt x="1492079" y="202855"/>
                    <a:pt x="1488792" y="202855"/>
                  </a:cubicBezTo>
                  <a:lnTo>
                    <a:pt x="8124" y="202855"/>
                  </a:lnTo>
                  <a:cubicBezTo>
                    <a:pt x="4837" y="202855"/>
                    <a:pt x="1874" y="200874"/>
                    <a:pt x="617" y="197837"/>
                  </a:cubicBezTo>
                  <a:cubicBezTo>
                    <a:pt x="-639" y="194800"/>
                    <a:pt x="58" y="191304"/>
                    <a:pt x="2385" y="188982"/>
                  </a:cubicBezTo>
                  <a:lnTo>
                    <a:pt x="177791" y="13873"/>
                  </a:lnTo>
                  <a:cubicBezTo>
                    <a:pt x="186690" y="4989"/>
                    <a:pt x="198750" y="0"/>
                    <a:pt x="21132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-47625"/>
              <a:ext cx="126594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1028700"/>
            <a:ext cx="6057900" cy="8229600"/>
            <a:chOff x="0" y="0"/>
            <a:chExt cx="1381939" cy="1877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1939" cy="1877351"/>
            </a:xfrm>
            <a:custGeom>
              <a:avLst/>
              <a:gdLst/>
              <a:ahLst/>
              <a:cxnLst/>
              <a:rect r="r" b="b" t="t" l="l"/>
              <a:pathLst>
                <a:path h="1877351" w="1381939">
                  <a:moveTo>
                    <a:pt x="0" y="124380"/>
                  </a:moveTo>
                  <a:lnTo>
                    <a:pt x="0" y="1481194"/>
                  </a:lnTo>
                  <a:cubicBezTo>
                    <a:pt x="0" y="1549887"/>
                    <a:pt x="55687" y="1605574"/>
                    <a:pt x="124380" y="1605574"/>
                  </a:cubicBezTo>
                  <a:lnTo>
                    <a:pt x="267087" y="1605574"/>
                  </a:lnTo>
                  <a:cubicBezTo>
                    <a:pt x="303063" y="1605574"/>
                    <a:pt x="337276" y="1621150"/>
                    <a:pt x="360898" y="1648284"/>
                  </a:cubicBezTo>
                  <a:lnTo>
                    <a:pt x="523133" y="1834640"/>
                  </a:lnTo>
                  <a:cubicBezTo>
                    <a:pt x="546755" y="1861774"/>
                    <a:pt x="580969" y="1877351"/>
                    <a:pt x="616944" y="1877351"/>
                  </a:cubicBezTo>
                  <a:lnTo>
                    <a:pt x="1088079" y="1877351"/>
                  </a:lnTo>
                  <a:cubicBezTo>
                    <a:pt x="1123987" y="1877351"/>
                    <a:pt x="1158143" y="1861832"/>
                    <a:pt x="1181763" y="1834786"/>
                  </a:cubicBezTo>
                  <a:lnTo>
                    <a:pt x="1340954" y="1652504"/>
                  </a:lnTo>
                  <a:cubicBezTo>
                    <a:pt x="1367377" y="1622247"/>
                    <a:pt x="1381939" y="1583437"/>
                    <a:pt x="1381939" y="1543266"/>
                  </a:cubicBezTo>
                  <a:lnTo>
                    <a:pt x="1381939" y="124380"/>
                  </a:lnTo>
                  <a:cubicBezTo>
                    <a:pt x="1381939" y="91391"/>
                    <a:pt x="1368834" y="59754"/>
                    <a:pt x="1345507" y="36428"/>
                  </a:cubicBezTo>
                  <a:cubicBezTo>
                    <a:pt x="1322180" y="13102"/>
                    <a:pt x="1290542" y="-1"/>
                    <a:pt x="1257554" y="0"/>
                  </a:cubicBezTo>
                  <a:lnTo>
                    <a:pt x="124380" y="0"/>
                  </a:lnTo>
                  <a:cubicBezTo>
                    <a:pt x="55687" y="0"/>
                    <a:pt x="0" y="55687"/>
                    <a:pt x="0" y="124380"/>
                  </a:cubicBezTo>
                  <a:close/>
                </a:path>
              </a:pathLst>
            </a:custGeom>
            <a:blipFill>
              <a:blip r:embed="rId2"/>
              <a:stretch>
                <a:fillRect l="-688" t="0" r="-68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14194" y="2306955"/>
            <a:ext cx="9671413" cy="523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Workforce Planning &amp; Knowledge Management</a:t>
            </a: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Demographic Succession Planning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With the 51+ age band leading attrition at 26.20%, the company is actively losing its most senior institutional knowledge.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  <a:p>
            <a:pPr algn="l" marL="582927" indent="-291463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626262"/>
                </a:solidFill>
                <a:latin typeface="Arimo Bold"/>
                <a:ea typeface="Arimo Bold"/>
                <a:cs typeface="Arimo Bold"/>
                <a:sym typeface="Arimo Bold"/>
              </a:rPr>
              <a:t>Actionable Steps</a:t>
            </a:r>
            <a:r>
              <a:rPr lang="en-US" sz="2699">
                <a:solidFill>
                  <a:srgbClr val="626262"/>
                </a:solidFill>
                <a:latin typeface="Arimo"/>
                <a:ea typeface="Arimo"/>
                <a:cs typeface="Arimo"/>
                <a:sym typeface="Arimo"/>
              </a:rPr>
              <a:t>: Establish a formal Phased Knowledge-Transfer Program. Pair exiting senior staff or employees nearing retirement with high-potential individuals in the 22–30 and 31–40 age bands to secure critical operational workflows before the talent departs.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9064875" y="5472821"/>
            <a:ext cx="10141788" cy="1315500"/>
            <a:chOff x="0" y="0"/>
            <a:chExt cx="1563902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189" y="0"/>
              <a:ext cx="1541525" cy="202855"/>
            </a:xfrm>
            <a:custGeom>
              <a:avLst/>
              <a:gdLst/>
              <a:ahLst/>
              <a:cxnLst/>
              <a:rect r="r" b="b" t="t" l="l"/>
              <a:pathLst>
                <a:path h="202855" w="1541525">
                  <a:moveTo>
                    <a:pt x="211095" y="0"/>
                  </a:moveTo>
                  <a:lnTo>
                    <a:pt x="1330429" y="0"/>
                  </a:lnTo>
                  <a:cubicBezTo>
                    <a:pt x="1342650" y="0"/>
                    <a:pt x="1354371" y="4849"/>
                    <a:pt x="1363019" y="13483"/>
                  </a:cubicBezTo>
                  <a:lnTo>
                    <a:pt x="1539207" y="189372"/>
                  </a:lnTo>
                  <a:cubicBezTo>
                    <a:pt x="1541468" y="191629"/>
                    <a:pt x="1542146" y="195026"/>
                    <a:pt x="1540925" y="197978"/>
                  </a:cubicBezTo>
                  <a:cubicBezTo>
                    <a:pt x="1539703" y="200930"/>
                    <a:pt x="1536824" y="202855"/>
                    <a:pt x="1533629" y="202855"/>
                  </a:cubicBezTo>
                  <a:lnTo>
                    <a:pt x="7895" y="202855"/>
                  </a:lnTo>
                  <a:cubicBezTo>
                    <a:pt x="4701" y="202855"/>
                    <a:pt x="1821" y="200930"/>
                    <a:pt x="599" y="197978"/>
                  </a:cubicBezTo>
                  <a:cubicBezTo>
                    <a:pt x="-622" y="195026"/>
                    <a:pt x="56" y="191629"/>
                    <a:pt x="2317" y="189372"/>
                  </a:cubicBezTo>
                  <a:lnTo>
                    <a:pt x="178505" y="13483"/>
                  </a:lnTo>
                  <a:cubicBezTo>
                    <a:pt x="187154" y="4849"/>
                    <a:pt x="198875" y="0"/>
                    <a:pt x="2110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309902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30100" y="2216689"/>
            <a:ext cx="5029200" cy="7041611"/>
            <a:chOff x="0" y="0"/>
            <a:chExt cx="1730304" cy="2422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0308" cy="2422677"/>
            </a:xfrm>
            <a:custGeom>
              <a:avLst/>
              <a:gdLst/>
              <a:ahLst/>
              <a:cxnLst/>
              <a:rect r="r" b="b" t="t" l="l"/>
              <a:pathLst>
                <a:path h="2422677" w="1730308">
                  <a:moveTo>
                    <a:pt x="1730308" y="1807079"/>
                  </a:moveTo>
                  <a:lnTo>
                    <a:pt x="1730308" y="561989"/>
                  </a:lnTo>
                  <a:cubicBezTo>
                    <a:pt x="1730310" y="522853"/>
                    <a:pt x="1715886" y="485089"/>
                    <a:pt x="1689795" y="455919"/>
                  </a:cubicBezTo>
                  <a:lnTo>
                    <a:pt x="1316043" y="38122"/>
                  </a:lnTo>
                  <a:cubicBezTo>
                    <a:pt x="1294343" y="13865"/>
                    <a:pt x="1263338" y="0"/>
                    <a:pt x="1230792" y="0"/>
                  </a:cubicBezTo>
                  <a:lnTo>
                    <a:pt x="114384" y="0"/>
                  </a:lnTo>
                  <a:cubicBezTo>
                    <a:pt x="51211" y="0"/>
                    <a:pt x="0" y="51211"/>
                    <a:pt x="0" y="114384"/>
                  </a:cubicBezTo>
                  <a:lnTo>
                    <a:pt x="0" y="501214"/>
                  </a:lnTo>
                  <a:lnTo>
                    <a:pt x="0" y="1852422"/>
                  </a:lnTo>
                  <a:cubicBezTo>
                    <a:pt x="0" y="1896887"/>
                    <a:pt x="16390" y="1939792"/>
                    <a:pt x="46036" y="1972932"/>
                  </a:cubicBezTo>
                  <a:lnTo>
                    <a:pt x="414263" y="2384556"/>
                  </a:lnTo>
                  <a:cubicBezTo>
                    <a:pt x="435962" y="2408813"/>
                    <a:pt x="466967" y="2422678"/>
                    <a:pt x="499514" y="2422677"/>
                  </a:cubicBezTo>
                  <a:lnTo>
                    <a:pt x="1214420" y="2422677"/>
                  </a:lnTo>
                  <a:cubicBezTo>
                    <a:pt x="1244757" y="2422678"/>
                    <a:pt x="1273851" y="2410627"/>
                    <a:pt x="1295302" y="2389176"/>
                  </a:cubicBezTo>
                  <a:cubicBezTo>
                    <a:pt x="1316754" y="2367724"/>
                    <a:pt x="1328805" y="2338630"/>
                    <a:pt x="1328805" y="2308294"/>
                  </a:cubicBezTo>
                  <a:lnTo>
                    <a:pt x="1328805" y="2035848"/>
                  </a:lnTo>
                  <a:cubicBezTo>
                    <a:pt x="1328805" y="1972675"/>
                    <a:pt x="1380017" y="1921463"/>
                    <a:pt x="1443190" y="1921463"/>
                  </a:cubicBezTo>
                  <a:lnTo>
                    <a:pt x="1615922" y="1921463"/>
                  </a:lnTo>
                  <a:cubicBezTo>
                    <a:pt x="1646259" y="1921464"/>
                    <a:pt x="1675353" y="1909413"/>
                    <a:pt x="1696805" y="1887962"/>
                  </a:cubicBezTo>
                  <a:cubicBezTo>
                    <a:pt x="1718257" y="1866510"/>
                    <a:pt x="1730308" y="1837416"/>
                    <a:pt x="1730308" y="1807079"/>
                  </a:cubicBezTo>
                  <a:close/>
                </a:path>
              </a:pathLst>
            </a:custGeom>
            <a:blipFill>
              <a:blip r:embed="rId2"/>
              <a:stretch>
                <a:fillRect l="-2242" t="0" r="-2242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>
            <a:off x="3543300" y="1023937"/>
            <a:ext cx="11201400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65542" y="3740660"/>
            <a:ext cx="12758713" cy="272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589"/>
              </a:lnSpc>
            </a:pPr>
            <a:r>
              <a:rPr lang="en-US" b="true" sz="20589" spc="-1441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THANK YOU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D6D6D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8100000">
            <a:off x="9624737" y="4053052"/>
            <a:ext cx="9486737" cy="1315500"/>
            <a:chOff x="0" y="0"/>
            <a:chExt cx="1462891" cy="2028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1961" y="0"/>
              <a:ext cx="1438969" cy="202855"/>
            </a:xfrm>
            <a:custGeom>
              <a:avLst/>
              <a:gdLst/>
              <a:ahLst/>
              <a:cxnLst/>
              <a:rect r="r" b="b" t="t" l="l"/>
              <a:pathLst>
                <a:path h="202855" w="1438969">
                  <a:moveTo>
                    <a:pt x="211641" y="0"/>
                  </a:moveTo>
                  <a:lnTo>
                    <a:pt x="1227328" y="0"/>
                  </a:lnTo>
                  <a:cubicBezTo>
                    <a:pt x="1240392" y="0"/>
                    <a:pt x="1252923" y="5184"/>
                    <a:pt x="1262168" y="14414"/>
                  </a:cubicBezTo>
                  <a:lnTo>
                    <a:pt x="1436491" y="188441"/>
                  </a:lnTo>
                  <a:cubicBezTo>
                    <a:pt x="1438908" y="190854"/>
                    <a:pt x="1439633" y="194486"/>
                    <a:pt x="1438327" y="197641"/>
                  </a:cubicBezTo>
                  <a:cubicBezTo>
                    <a:pt x="1437022" y="200797"/>
                    <a:pt x="1433943" y="202855"/>
                    <a:pt x="1430528" y="202855"/>
                  </a:cubicBezTo>
                  <a:lnTo>
                    <a:pt x="8441" y="202855"/>
                  </a:lnTo>
                  <a:cubicBezTo>
                    <a:pt x="5026" y="202855"/>
                    <a:pt x="1947" y="200797"/>
                    <a:pt x="641" y="197641"/>
                  </a:cubicBezTo>
                  <a:cubicBezTo>
                    <a:pt x="-664" y="194486"/>
                    <a:pt x="61" y="190854"/>
                    <a:pt x="2478" y="188441"/>
                  </a:cubicBezTo>
                  <a:lnTo>
                    <a:pt x="176800" y="14414"/>
                  </a:lnTo>
                  <a:cubicBezTo>
                    <a:pt x="186046" y="5184"/>
                    <a:pt x="198577" y="0"/>
                    <a:pt x="2116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-47625"/>
              <a:ext cx="1208891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8100000">
            <a:off x="10472226" y="2579357"/>
            <a:ext cx="5318500" cy="1315500"/>
            <a:chOff x="0" y="0"/>
            <a:chExt cx="820133" cy="2028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1335" y="0"/>
              <a:ext cx="777462" cy="202855"/>
            </a:xfrm>
            <a:custGeom>
              <a:avLst/>
              <a:gdLst/>
              <a:ahLst/>
              <a:cxnLst/>
              <a:rect r="r" b="b" t="t" l="l"/>
              <a:pathLst>
                <a:path h="202855" w="777462">
                  <a:moveTo>
                    <a:pt x="218256" y="0"/>
                  </a:moveTo>
                  <a:lnTo>
                    <a:pt x="559206" y="0"/>
                  </a:lnTo>
                  <a:cubicBezTo>
                    <a:pt x="582510" y="0"/>
                    <a:pt x="604860" y="9247"/>
                    <a:pt x="621352" y="25711"/>
                  </a:cubicBezTo>
                  <a:lnTo>
                    <a:pt x="773043" y="177144"/>
                  </a:lnTo>
                  <a:cubicBezTo>
                    <a:pt x="777355" y="181448"/>
                    <a:pt x="778647" y="187926"/>
                    <a:pt x="776318" y="193555"/>
                  </a:cubicBezTo>
                  <a:cubicBezTo>
                    <a:pt x="773990" y="199184"/>
                    <a:pt x="768498" y="202855"/>
                    <a:pt x="762406" y="202855"/>
                  </a:cubicBezTo>
                  <a:lnTo>
                    <a:pt x="15056" y="202855"/>
                  </a:lnTo>
                  <a:cubicBezTo>
                    <a:pt x="8965" y="202855"/>
                    <a:pt x="3473" y="199184"/>
                    <a:pt x="1144" y="193555"/>
                  </a:cubicBezTo>
                  <a:cubicBezTo>
                    <a:pt x="-1185" y="187926"/>
                    <a:pt x="108" y="181448"/>
                    <a:pt x="4419" y="177144"/>
                  </a:cubicBezTo>
                  <a:lnTo>
                    <a:pt x="156111" y="25711"/>
                  </a:lnTo>
                  <a:cubicBezTo>
                    <a:pt x="172602" y="9247"/>
                    <a:pt x="194953" y="0"/>
                    <a:pt x="2182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03BFF">
                    <a:alpha val="100000"/>
                  </a:srgbClr>
                </a:gs>
                <a:gs pos="100000">
                  <a:srgbClr val="AF3B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-47625"/>
              <a:ext cx="566133" cy="2504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15750" y="2814320"/>
            <a:ext cx="5543550" cy="6443980"/>
            <a:chOff x="0" y="0"/>
            <a:chExt cx="1494688" cy="17374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4692" cy="1737464"/>
            </a:xfrm>
            <a:custGeom>
              <a:avLst/>
              <a:gdLst/>
              <a:ahLst/>
              <a:cxnLst/>
              <a:rect r="r" b="b" t="t" l="l"/>
              <a:pathLst>
                <a:path h="1737464" w="1494692">
                  <a:moveTo>
                    <a:pt x="0" y="110688"/>
                  </a:moveTo>
                  <a:lnTo>
                    <a:pt x="0" y="1481092"/>
                  </a:lnTo>
                  <a:cubicBezTo>
                    <a:pt x="2" y="1507389"/>
                    <a:pt x="9367" y="1532826"/>
                    <a:pt x="26416" y="1552847"/>
                  </a:cubicBezTo>
                  <a:lnTo>
                    <a:pt x="150468" y="1698536"/>
                  </a:lnTo>
                  <a:cubicBezTo>
                    <a:pt x="171499" y="1723235"/>
                    <a:pt x="202305" y="1737465"/>
                    <a:pt x="234744" y="1737464"/>
                  </a:cubicBezTo>
                  <a:lnTo>
                    <a:pt x="1259948" y="1737464"/>
                  </a:lnTo>
                  <a:cubicBezTo>
                    <a:pt x="1292387" y="1737465"/>
                    <a:pt x="1323194" y="1723235"/>
                    <a:pt x="1344224" y="1698536"/>
                  </a:cubicBezTo>
                  <a:lnTo>
                    <a:pt x="1468276" y="1552847"/>
                  </a:lnTo>
                  <a:cubicBezTo>
                    <a:pt x="1485325" y="1532826"/>
                    <a:pt x="1494690" y="1507389"/>
                    <a:pt x="1494692" y="1481092"/>
                  </a:cubicBezTo>
                  <a:lnTo>
                    <a:pt x="1494692" y="110688"/>
                  </a:lnTo>
                  <a:cubicBezTo>
                    <a:pt x="1494692" y="81331"/>
                    <a:pt x="1483030" y="53177"/>
                    <a:pt x="1462271" y="32418"/>
                  </a:cubicBezTo>
                  <a:cubicBezTo>
                    <a:pt x="1441512" y="11660"/>
                    <a:pt x="1413357" y="-1"/>
                    <a:pt x="1384000" y="0"/>
                  </a:cubicBezTo>
                  <a:lnTo>
                    <a:pt x="110688" y="0"/>
                  </a:lnTo>
                  <a:cubicBezTo>
                    <a:pt x="49557" y="0"/>
                    <a:pt x="0" y="49557"/>
                    <a:pt x="0" y="110688"/>
                  </a:cubicBezTo>
                  <a:close/>
                </a:path>
              </a:pathLst>
            </a:custGeom>
            <a:blipFill>
              <a:blip r:embed="rId2"/>
              <a:stretch>
                <a:fillRect l="0" t="-3185" r="0" b="-3185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true" rot="0">
            <a:off x="10687050" y="1028700"/>
            <a:ext cx="165628" cy="128588"/>
          </a:xfrm>
          <a:custGeom>
            <a:avLst/>
            <a:gdLst/>
            <a:ahLst/>
            <a:cxnLst/>
            <a:rect r="r" b="b" t="t" l="l"/>
            <a:pathLst>
              <a:path h="128588" w="165628">
                <a:moveTo>
                  <a:pt x="0" y="128588"/>
                </a:moveTo>
                <a:lnTo>
                  <a:pt x="165628" y="128588"/>
                </a:lnTo>
                <a:lnTo>
                  <a:pt x="165628" y="0"/>
                </a:lnTo>
                <a:lnTo>
                  <a:pt x="0" y="0"/>
                </a:lnTo>
                <a:lnTo>
                  <a:pt x="0" y="12858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687050" y="9129712"/>
            <a:ext cx="165628" cy="128588"/>
          </a:xfrm>
          <a:custGeom>
            <a:avLst/>
            <a:gdLst/>
            <a:ahLst/>
            <a:cxnLst/>
            <a:rect r="r" b="b" t="t" l="l"/>
            <a:pathLst>
              <a:path h="128588" w="165628">
                <a:moveTo>
                  <a:pt x="0" y="0"/>
                </a:moveTo>
                <a:lnTo>
                  <a:pt x="165628" y="0"/>
                </a:lnTo>
                <a:lnTo>
                  <a:pt x="165628" y="128588"/>
                </a:lnTo>
                <a:lnTo>
                  <a:pt x="0" y="1285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1028700" y="7685773"/>
            <a:ext cx="8115300" cy="0"/>
          </a:xfrm>
          <a:prstGeom prst="line">
            <a:avLst/>
          </a:prstGeom>
          <a:ln cap="flat" w="9525">
            <a:solidFill>
              <a:srgbClr val="3030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1028700" y="2729648"/>
            <a:ext cx="9520237" cy="3578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69"/>
              </a:lnSpc>
            </a:pPr>
            <a:r>
              <a:rPr lang="en-US" b="true" sz="9269" spc="-648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QUESTIONS &amp; ANSWERS</a:t>
            </a:r>
          </a:p>
          <a:p>
            <a:pPr algn="l" marL="0" indent="0" lvl="0">
              <a:lnSpc>
                <a:spcPts val="9269"/>
              </a:lnSpc>
            </a:pPr>
            <a:r>
              <a:rPr lang="en-US" b="true" sz="9269" spc="-648">
                <a:gradFill>
                  <a:gsLst>
                    <a:gs pos="0">
                      <a:srgbClr val="626262">
                        <a:alpha val="100000"/>
                      </a:srgbClr>
                    </a:gs>
                    <a:gs pos="100000">
                      <a:srgbClr val="C4C4C4">
                        <a:alpha val="100000"/>
                      </a:srgbClr>
                    </a:gs>
                  </a:gsLst>
                  <a:lin ang="5400000"/>
                </a:gradFill>
                <a:latin typeface="Antonio Ultra-Bold"/>
                <a:ea typeface="Antonio Ultra-Bold"/>
                <a:cs typeface="Antonio Ultra-Bold"/>
                <a:sym typeface="Antonio Ultra-Bold"/>
              </a:rPr>
              <a:t>WE WELCOME YOUR QUESTIONS AND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DAHKTD50MW0</dc:identifier>
  <dcterms:modified xsi:type="dcterms:W3CDTF">2011-08-01T06:04:30Z</dcterms:modified>
  <cp:revision>1</cp:revision>
  <dc:title>HR Analytics Dashboard – Data-Driven Workforce Insights</dc:title>
</cp:coreProperties>
</file>